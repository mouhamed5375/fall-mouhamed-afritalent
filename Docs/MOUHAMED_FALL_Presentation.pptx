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77" r:id="rId2"/>
    <p:sldId id="272" r:id="rId3"/>
    <p:sldId id="258" r:id="rId4"/>
    <p:sldId id="271" r:id="rId5"/>
    <p:sldId id="274" r:id="rId6"/>
    <p:sldId id="259" r:id="rId7"/>
    <p:sldId id="275" r:id="rId8"/>
    <p:sldId id="260" r:id="rId9"/>
    <p:sldId id="276" r:id="rId10"/>
    <p:sldId id="261" r:id="rId11"/>
    <p:sldId id="262" r:id="rId12"/>
    <p:sldId id="263" r:id="rId13"/>
    <p:sldId id="264" r:id="rId14"/>
    <p:sldId id="265" r:id="rId15"/>
    <p:sldId id="273"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sans titre" id="{4AEA82A0-2AB9-4DCF-BE3B-AD6DBB8A5692}">
          <p14:sldIdLst>
            <p14:sldId id="277"/>
            <p14:sldId id="272"/>
            <p14:sldId id="258"/>
            <p14:sldId id="271"/>
            <p14:sldId id="274"/>
            <p14:sldId id="259"/>
            <p14:sldId id="275"/>
            <p14:sldId id="260"/>
            <p14:sldId id="276"/>
            <p14:sldId id="261"/>
            <p14:sldId id="262"/>
            <p14:sldId id="263"/>
            <p14:sldId id="264"/>
            <p14:sldId id="265"/>
            <p14:sldId id="273"/>
          </p14:sldIdLst>
        </p14:section>
        <p14:section name="description" id="{47B33BC3-9383-428C-895F-F0A66CF98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Rg st="1" end="15"/>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4" autoAdjust="0"/>
    <p:restoredTop sz="94660"/>
  </p:normalViewPr>
  <p:slideViewPr>
    <p:cSldViewPr snapToGrid="0">
      <p:cViewPr varScale="1">
        <p:scale>
          <a:sx n="84" d="100"/>
          <a:sy n="84" d="100"/>
        </p:scale>
        <p:origin x="126" y="4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fr-FR" smtClean="0"/>
              <a:t>Modifiez le style du titre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smtClean="0"/>
              <a:t>Modifier le style des sous-titres du masque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a:xfrm>
            <a:off x="2692397" y="5037663"/>
            <a:ext cx="5214635" cy="279400"/>
          </a:xfrm>
        </p:spPr>
        <p:txBody>
          <a:bodyPr/>
          <a:lstStyle/>
          <a:p>
            <a:endParaRPr lang="fr-FR"/>
          </a:p>
        </p:txBody>
      </p:sp>
      <p:sp>
        <p:nvSpPr>
          <p:cNvPr id="6" name="Slide Number Placeholder 5"/>
          <p:cNvSpPr>
            <a:spLocks noGrp="1"/>
          </p:cNvSpPr>
          <p:nvPr>
            <p:ph type="sldNum" sz="quarter" idx="12"/>
          </p:nvPr>
        </p:nvSpPr>
        <p:spPr>
          <a:xfrm>
            <a:off x="8956900" y="5037663"/>
            <a:ext cx="551167" cy="279400"/>
          </a:xfrm>
        </p:spPr>
        <p:txBody>
          <a:bodyPr/>
          <a:lstStyle/>
          <a:p>
            <a:fld id="{CD2E92A1-6725-42D9-A294-51F30D86D171}" type="slidenum">
              <a:rPr lang="fr-FR" smtClean="0"/>
              <a:t>‹N°›</a:t>
            </a:fld>
            <a:endParaRPr lang="fr-FR"/>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53846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spTree>
    <p:extLst>
      <p:ext uri="{BB962C8B-B14F-4D97-AF65-F5344CB8AC3E}">
        <p14:creationId xmlns:p14="http://schemas.microsoft.com/office/powerpoint/2010/main" val="6040815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fr-FR" smtClean="0"/>
              <a:t>Modifiez le style du titre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245370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176D0FA7-4F60-4B4F-BFEF-C92D59061BA6}" type="datetimeFigureOut">
              <a:rPr lang="fr-FR" smtClean="0"/>
              <a:t>23/06/2026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D2E92A1-6725-42D9-A294-51F30D86D171}" type="slidenum">
              <a:rPr lang="fr-FR" smtClean="0"/>
              <a:t>‹N°›</a:t>
            </a:fld>
            <a:endParaRPr lang="fr-FR"/>
          </a:p>
        </p:txBody>
      </p:sp>
    </p:spTree>
    <p:extLst>
      <p:ext uri="{BB962C8B-B14F-4D97-AF65-F5344CB8AC3E}">
        <p14:creationId xmlns:p14="http://schemas.microsoft.com/office/powerpoint/2010/main" val="345267603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smtClean="0"/>
              <a:t>Modifiez le style du titre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176D0FA7-4F60-4B4F-BFEF-C92D59061BA6}" type="datetimeFigureOut">
              <a:rPr lang="fr-FR" smtClean="0"/>
              <a:t>23/06/2026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D2E92A1-6725-42D9-A294-51F30D86D171}" type="slidenum">
              <a:rPr lang="fr-FR" smtClean="0"/>
              <a:t>‹N°›</a:t>
            </a:fld>
            <a:endParaRPr lang="fr-FR"/>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8512455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176D0FA7-4F60-4B4F-BFEF-C92D59061BA6}" type="datetimeFigureOut">
              <a:rPr lang="fr-FR" smtClean="0"/>
              <a:t>23/06/2026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D2E92A1-6725-42D9-A294-51F30D86D171}" type="slidenum">
              <a:rPr lang="fr-FR" smtClean="0"/>
              <a:t>‹N°›</a:t>
            </a:fld>
            <a:endParaRPr lang="fr-FR"/>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2807021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76D0FA7-4F60-4B4F-BFEF-C92D59061BA6}" type="datetimeFigureOut">
              <a:rPr lang="fr-FR" smtClean="0"/>
              <a:t>23/06/2026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D2E92A1-6725-42D9-A294-51F30D86D171}" type="slidenum">
              <a:rPr lang="fr-FR" smtClean="0"/>
              <a:t>‹N°›</a:t>
            </a:fld>
            <a:endParaRPr lang="fr-FR"/>
          </a:p>
        </p:txBody>
      </p:sp>
    </p:spTree>
    <p:extLst>
      <p:ext uri="{BB962C8B-B14F-4D97-AF65-F5344CB8AC3E}">
        <p14:creationId xmlns:p14="http://schemas.microsoft.com/office/powerpoint/2010/main" val="2995976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fr-FR" smtClean="0"/>
              <a:t>Modifiez le style du titre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176D0FA7-4F60-4B4F-BFEF-C92D59061BA6}" type="datetimeFigureOut">
              <a:rPr lang="fr-FR" smtClean="0"/>
              <a:t>23/06/2026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D2E92A1-6725-42D9-A294-51F30D86D171}" type="slidenum">
              <a:rPr lang="fr-FR" smtClean="0"/>
              <a:t>‹N°›</a:t>
            </a:fld>
            <a:endParaRPr lang="fr-FR"/>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791554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fr-FR" smtClean="0"/>
              <a:t>Modifiez le style du titre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176D0FA7-4F60-4B4F-BFEF-C92D59061BA6}" type="datetimeFigureOut">
              <a:rPr lang="fr-FR" smtClean="0"/>
              <a:t>23/06/2026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D2E92A1-6725-42D9-A294-51F30D86D171}" type="slidenum">
              <a:rPr lang="fr-FR" smtClean="0"/>
              <a:t>‹N°›</a:t>
            </a:fld>
            <a:endParaRPr lang="fr-FR"/>
          </a:p>
        </p:txBody>
      </p:sp>
    </p:spTree>
    <p:extLst>
      <p:ext uri="{BB962C8B-B14F-4D97-AF65-F5344CB8AC3E}">
        <p14:creationId xmlns:p14="http://schemas.microsoft.com/office/powerpoint/2010/main" val="63987468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176D0FA7-4F60-4B4F-BFEF-C92D59061BA6}" type="datetimeFigureOut">
              <a:rPr lang="fr-FR" smtClean="0"/>
              <a:t>23/06/2026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D2E92A1-6725-42D9-A294-51F30D86D171}" type="slidenum">
              <a:rPr lang="fr-FR" smtClean="0"/>
              <a:t>‹N°›</a:t>
            </a:fld>
            <a:endParaRPr lang="fr-FR"/>
          </a:p>
        </p:txBody>
      </p:sp>
    </p:spTree>
    <p:extLst>
      <p:ext uri="{BB962C8B-B14F-4D97-AF65-F5344CB8AC3E}">
        <p14:creationId xmlns:p14="http://schemas.microsoft.com/office/powerpoint/2010/main" val="327347766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fr-FR" smtClean="0"/>
              <a:t>Modifiez le style du titre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8151095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fr-FR" smtClean="0"/>
              <a:t>Modifiez le style du titre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smtClean="0"/>
              <a:t>Modifier les styles du texte du masque</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504862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fr-FR" smtClean="0"/>
              <a:t>Modifiez le style du titre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spTree>
    <p:extLst>
      <p:ext uri="{BB962C8B-B14F-4D97-AF65-F5344CB8AC3E}">
        <p14:creationId xmlns:p14="http://schemas.microsoft.com/office/powerpoint/2010/main" val="202293923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arte nom cita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fr-FR" smtClean="0"/>
              <a:t>Modifiez le style du titre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17830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Vrai ou faux">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fr-FR" smtClean="0"/>
              <a:t>Modifiez le style du titre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777183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fr-FR" smtClean="0"/>
              <a:t>Modifiez le style du titre</a:t>
            </a:r>
            <a:endParaRPr lang="en-US" dirty="0"/>
          </a:p>
        </p:txBody>
      </p:sp>
      <p:sp>
        <p:nvSpPr>
          <p:cNvPr id="3" name="Vertical Text Placeholder 2"/>
          <p:cNvSpPr>
            <a:spLocks noGrp="1"/>
          </p:cNvSpPr>
          <p:nvPr>
            <p:ph type="body" orient="vert" idx="1"/>
          </p:nvPr>
        </p:nvSpPr>
        <p:spPr/>
        <p:txBody>
          <a:bodyPr vert="eaVert" ancho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76012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fr-FR" smtClean="0"/>
              <a:t>Modifiez le style du titre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176D0FA7-4F60-4B4F-BFEF-C92D59061BA6}"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D2E92A1-6725-42D9-A294-51F30D86D171}" type="slidenum">
              <a:rPr lang="fr-FR" smtClean="0"/>
              <a:t>‹N°›</a:t>
            </a:fld>
            <a:endParaRPr lang="fr-FR"/>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0477843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alphaModFix amt="7000"/>
            <a:duotone>
              <a:prstClr val="black"/>
              <a:schemeClr val="accent3">
                <a:tint val="45000"/>
                <a:satMod val="400000"/>
              </a:schemeClr>
            </a:duotone>
            <a:lum/>
            <a:extLst>
              <a:ext uri="{BEBA8EAE-BF5A-486C-A8C5-ECC9F3942E4B}">
                <a14:imgProps xmlns:a14="http://schemas.microsoft.com/office/drawing/2010/main">
                  <a14:imgLayer r:embed="rId20">
                    <a14:imgEffect>
                      <a14:artisticPaintStrokes/>
                    </a14:imgEffect>
                    <a14:imgEffect>
                      <a14:colorTemperature colorTemp="7466"/>
                    </a14:imgEffect>
                    <a14:imgEffect>
                      <a14:saturation sat="400000"/>
                    </a14:imgEffect>
                  </a14:imgLayer>
                </a14:imgProps>
              </a:ext>
            </a:extLst>
          </a:blip>
          <a:srcRect/>
          <a:tile tx="0" ty="0" sx="100000" sy="100000" flip="none" algn="tl"/>
        </a:blipFill>
        <a:effectLst/>
      </p:bgPr>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2">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2">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fr-FR" smtClean="0"/>
              <a:t>Modifiez le style du titre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76D0FA7-4F60-4B4F-BFEF-C92D59061BA6}" type="datetimeFigureOut">
              <a:rPr lang="fr-FR" smtClean="0"/>
              <a:t>23/06/2026</a:t>
            </a:fld>
            <a:endParaRPr lang="fr-FR"/>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fr-FR"/>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D2E92A1-6725-42D9-A294-51F30D86D171}" type="slidenum">
              <a:rPr lang="fr-FR" smtClean="0"/>
              <a:t>‹N°›</a:t>
            </a:fld>
            <a:endParaRPr lang="fr-FR"/>
          </a:p>
        </p:txBody>
      </p:sp>
    </p:spTree>
    <p:extLst>
      <p:ext uri="{BB962C8B-B14F-4D97-AF65-F5344CB8AC3E}">
        <p14:creationId xmlns:p14="http://schemas.microsoft.com/office/powerpoint/2010/main" val="2170270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en-US" sz="6000" b="1" dirty="0" err="1" smtClean="0">
                <a:latin typeface="Algerian" panose="04020705040A02060702" pitchFamily="82" charset="0"/>
              </a:rPr>
              <a:t>Projet</a:t>
            </a:r>
            <a:r>
              <a:rPr lang="en-US" sz="6000" b="1" dirty="0" smtClean="0">
                <a:latin typeface="Algerian" panose="04020705040A02060702" pitchFamily="82" charset="0"/>
              </a:rPr>
              <a:t> </a:t>
            </a:r>
            <a:r>
              <a:rPr lang="en-US" sz="6000" b="1" dirty="0" err="1" smtClean="0">
                <a:latin typeface="Algerian" panose="04020705040A02060702" pitchFamily="82" charset="0"/>
              </a:rPr>
              <a:t>afriTalent</a:t>
            </a:r>
            <a:endParaRPr lang="fr-FR" sz="6000" b="1" dirty="0">
              <a:latin typeface="Algerian" panose="04020705040A02060702" pitchFamily="82" charset="0"/>
            </a:endParaRPr>
          </a:p>
        </p:txBody>
      </p:sp>
      <p:sp>
        <p:nvSpPr>
          <p:cNvPr id="3" name="Espace réservé du contenu 2"/>
          <p:cNvSpPr>
            <a:spLocks noGrp="1"/>
          </p:cNvSpPr>
          <p:nvPr>
            <p:ph idx="1"/>
          </p:nvPr>
        </p:nvSpPr>
        <p:spPr/>
        <p:txBody>
          <a:bodyPr/>
          <a:lstStyle/>
          <a:p>
            <a:r>
              <a:rPr lang="en-US" dirty="0" smtClean="0"/>
              <a:t>TITRE: AFRITALENT</a:t>
            </a:r>
          </a:p>
          <a:p>
            <a:r>
              <a:rPr lang="en-US" dirty="0" smtClean="0"/>
              <a:t>SOUS-TITRE: </a:t>
            </a:r>
            <a:r>
              <a:rPr lang="fr-FR" dirty="0"/>
              <a:t>Plateforme de mise en relation entre freelances </a:t>
            </a:r>
            <a:r>
              <a:rPr lang="fr-FR" dirty="0" err="1"/>
              <a:t>tech</a:t>
            </a:r>
            <a:r>
              <a:rPr lang="fr-FR" dirty="0"/>
              <a:t> et entreprises en Afrique</a:t>
            </a:r>
            <a:endParaRPr lang="en-US" dirty="0" smtClean="0"/>
          </a:p>
          <a:p>
            <a:r>
              <a:rPr lang="en-US" dirty="0" smtClean="0"/>
              <a:t>NOM : MOUHAMED MOUSTAPHA FALL</a:t>
            </a:r>
          </a:p>
          <a:p>
            <a:r>
              <a:rPr lang="en-US" dirty="0" smtClean="0"/>
              <a:t>CLASSE: L1 IAGE</a:t>
            </a:r>
          </a:p>
          <a:p>
            <a:r>
              <a:rPr lang="en-US" dirty="0" smtClean="0"/>
              <a:t> DATE :Le 24/06/2026</a:t>
            </a:r>
            <a:endParaRPr lang="fr-FR" dirty="0"/>
          </a:p>
        </p:txBody>
      </p:sp>
    </p:spTree>
    <p:extLst>
      <p:ext uri="{BB962C8B-B14F-4D97-AF65-F5344CB8AC3E}">
        <p14:creationId xmlns:p14="http://schemas.microsoft.com/office/powerpoint/2010/main" val="11109032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z="6000" b="1" i="1" dirty="0">
                <a:latin typeface="Algerian" panose="04020705040A02060702" pitchFamily="82" charset="0"/>
              </a:rPr>
              <a:t>Sommaire</a:t>
            </a:r>
          </a:p>
        </p:txBody>
      </p:sp>
      <p:sp>
        <p:nvSpPr>
          <p:cNvPr id="3" name="Espace réservé du contenu 2"/>
          <p:cNvSpPr>
            <a:spLocks noGrp="1"/>
          </p:cNvSpPr>
          <p:nvPr>
            <p:ph idx="1"/>
          </p:nvPr>
        </p:nvSpPr>
        <p:spPr/>
        <p:txBody>
          <a:bodyPr>
            <a:normAutofit lnSpcReduction="10000"/>
          </a:bodyPr>
          <a:lstStyle/>
          <a:p>
            <a:pPr marL="514350" indent="-514350">
              <a:buFont typeface="+mj-lt"/>
              <a:buAutoNum type="romanUcPeriod"/>
            </a:pPr>
            <a:r>
              <a:rPr lang="fr-FR" dirty="0"/>
              <a:t>Contexte </a:t>
            </a:r>
            <a:r>
              <a:rPr lang="fr-FR" dirty="0" smtClean="0"/>
              <a:t>Et Objectifs </a:t>
            </a:r>
            <a:r>
              <a:rPr lang="fr-FR" dirty="0"/>
              <a:t>du </a:t>
            </a:r>
            <a:r>
              <a:rPr lang="fr-FR" dirty="0" smtClean="0"/>
              <a:t>projet</a:t>
            </a:r>
            <a:r>
              <a:rPr lang="en-US" dirty="0" smtClean="0"/>
              <a:t>.</a:t>
            </a:r>
            <a:endParaRPr lang="en-US" sz="2600" dirty="0" smtClean="0"/>
          </a:p>
          <a:p>
            <a:pPr marL="571500" indent="-571500">
              <a:buFont typeface="+mj-lt"/>
              <a:buAutoNum type="romanUcPeriod"/>
            </a:pPr>
            <a:r>
              <a:rPr lang="nn-NO" sz="2800" dirty="0"/>
              <a:t>Identité visuelle </a:t>
            </a:r>
            <a:r>
              <a:rPr lang="fr-FR" sz="2800" dirty="0"/>
              <a:t>Et</a:t>
            </a:r>
            <a:r>
              <a:rPr lang="nn-NO" sz="2800" dirty="0" smtClean="0"/>
              <a:t> </a:t>
            </a:r>
            <a:r>
              <a:rPr lang="nn-NO" sz="2800" dirty="0"/>
              <a:t>Design web </a:t>
            </a:r>
            <a:r>
              <a:rPr lang="nn-NO" sz="2800" dirty="0" smtClean="0"/>
              <a:t>2026</a:t>
            </a:r>
            <a:endParaRPr lang="en-US" sz="2600" dirty="0" smtClean="0"/>
          </a:p>
          <a:p>
            <a:pPr marL="571500" indent="-571500">
              <a:buFont typeface="+mj-lt"/>
              <a:buAutoNum type="romanUcPeriod"/>
            </a:pPr>
            <a:r>
              <a:rPr lang="fr-FR" sz="2800" dirty="0"/>
              <a:t>Architecture Et </a:t>
            </a:r>
            <a:r>
              <a:rPr lang="fr-FR" sz="2800" dirty="0" smtClean="0"/>
              <a:t>Structure sémantique</a:t>
            </a:r>
            <a:endParaRPr lang="en-US" sz="2600" dirty="0" smtClean="0"/>
          </a:p>
          <a:p>
            <a:pPr marL="571500" indent="-571500">
              <a:buFont typeface="+mj-lt"/>
              <a:buAutoNum type="romanUcPeriod"/>
            </a:pPr>
            <a:r>
              <a:rPr lang="fr-FR" sz="2800" dirty="0"/>
              <a:t>Réalisation technique (CSS Et</a:t>
            </a:r>
            <a:r>
              <a:rPr lang="fr-FR" sz="2800" dirty="0" smtClean="0"/>
              <a:t> </a:t>
            </a:r>
            <a:r>
              <a:rPr lang="fr-FR" sz="2800" dirty="0" err="1"/>
              <a:t>Bootstrap</a:t>
            </a:r>
            <a:r>
              <a:rPr lang="fr-FR" sz="2800" dirty="0"/>
              <a:t> 5</a:t>
            </a:r>
            <a:r>
              <a:rPr lang="fr-FR" sz="2800" dirty="0" smtClean="0"/>
              <a:t>)</a:t>
            </a:r>
            <a:endParaRPr lang="en-US" sz="2600" dirty="0" smtClean="0"/>
          </a:p>
          <a:p>
            <a:pPr marL="571500" indent="-571500">
              <a:buFont typeface="+mj-lt"/>
              <a:buAutoNum type="romanUcPeriod"/>
            </a:pPr>
            <a:r>
              <a:rPr lang="fr-FR" sz="2800" dirty="0"/>
              <a:t>Dynamisme Et</a:t>
            </a:r>
            <a:r>
              <a:rPr lang="fr-FR" sz="2800" dirty="0" smtClean="0"/>
              <a:t> </a:t>
            </a:r>
            <a:r>
              <a:rPr lang="fr-FR" sz="2800" dirty="0"/>
              <a:t>Logique JavaScript </a:t>
            </a:r>
            <a:r>
              <a:rPr lang="fr-FR" sz="2800" dirty="0" err="1" smtClean="0"/>
              <a:t>vanilla</a:t>
            </a:r>
            <a:endParaRPr lang="en-US" sz="2600" dirty="0" smtClean="0"/>
          </a:p>
          <a:p>
            <a:pPr marL="571500" indent="-571500">
              <a:buFont typeface="+mj-lt"/>
              <a:buAutoNum type="romanUcPeriod"/>
            </a:pPr>
            <a:r>
              <a:rPr lang="fr-FR" sz="2800" dirty="0" err="1"/>
              <a:t>Versioning</a:t>
            </a:r>
            <a:r>
              <a:rPr lang="fr-FR" sz="2800" dirty="0"/>
              <a:t> Git Et</a:t>
            </a:r>
            <a:r>
              <a:rPr lang="fr-FR" sz="2800" dirty="0" smtClean="0"/>
              <a:t> Conclusion</a:t>
            </a:r>
            <a:endParaRPr lang="fr-FR" sz="2600" dirty="0"/>
          </a:p>
        </p:txBody>
      </p:sp>
    </p:spTree>
    <p:extLst>
      <p:ext uri="{BB962C8B-B14F-4D97-AF65-F5344CB8AC3E}">
        <p14:creationId xmlns:p14="http://schemas.microsoft.com/office/powerpoint/2010/main" val="427076828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FR" sz="5400" b="1" i="1" dirty="0">
                <a:latin typeface="Algerian" panose="04020705040A02060702" pitchFamily="82" charset="0"/>
              </a:rPr>
              <a:t>Présentation du </a:t>
            </a:r>
            <a:r>
              <a:rPr lang="fr-FR" sz="5400" b="1" i="1" dirty="0" smtClean="0">
                <a:latin typeface="Algerian" panose="04020705040A02060702" pitchFamily="82" charset="0"/>
              </a:rPr>
              <a:t>projet</a:t>
            </a:r>
            <a:r>
              <a:rPr lang="fr-FR" dirty="0" smtClean="0"/>
              <a:t>, </a:t>
            </a:r>
            <a:endParaRPr lang="fr-FR" dirty="0"/>
          </a:p>
        </p:txBody>
      </p:sp>
      <p:sp>
        <p:nvSpPr>
          <p:cNvPr id="5" name="Espace réservé du contenu 4"/>
          <p:cNvSpPr>
            <a:spLocks noGrp="1"/>
          </p:cNvSpPr>
          <p:nvPr>
            <p:ph idx="1"/>
          </p:nvPr>
        </p:nvSpPr>
        <p:spPr/>
        <p:txBody>
          <a:bodyPr>
            <a:normAutofit fontScale="77500" lnSpcReduction="20000"/>
          </a:bodyPr>
          <a:lstStyle/>
          <a:p>
            <a:r>
              <a:rPr lang="fr-FR" sz="2800" b="1" dirty="0"/>
              <a:t>Contexte : </a:t>
            </a:r>
            <a:r>
              <a:rPr lang="fr-FR" sz="2800" dirty="0" smtClean="0"/>
              <a:t>Le </a:t>
            </a:r>
            <a:r>
              <a:rPr lang="fr-FR" sz="2800" dirty="0"/>
              <a:t>marché du travail indépendant dans le secteur de la </a:t>
            </a:r>
            <a:r>
              <a:rPr lang="fr-FR" sz="2800" dirty="0" smtClean="0"/>
              <a:t>Tech </a:t>
            </a:r>
            <a:r>
              <a:rPr lang="fr-FR" sz="2800" dirty="0"/>
              <a:t>en Afrique connaît une croissance explosive. De plus en plus de développeurs, de designers et de créateurs de contenu ont besoin d'une plateforme fiable pour proposer leurs services. Parallèlement, les entreprises cherchent à simplifier leur recherche de compétences qualifiées</a:t>
            </a:r>
            <a:r>
              <a:rPr lang="fr-FR" sz="2800" dirty="0" smtClean="0"/>
              <a:t>. La conception d’</a:t>
            </a:r>
            <a:r>
              <a:rPr lang="fr-FR" sz="2800" dirty="0" err="1" smtClean="0"/>
              <a:t>Afritalent</a:t>
            </a:r>
            <a:r>
              <a:rPr lang="fr-FR" sz="2800" dirty="0" smtClean="0"/>
              <a:t> , une site vitrine moderne et interactif servant de ont entre ces deux acteurs</a:t>
            </a:r>
            <a:endParaRPr lang="fr-FR" sz="2800" b="1" dirty="0" smtClean="0"/>
          </a:p>
          <a:p>
            <a:r>
              <a:rPr lang="fr-FR" sz="2800" b="1" dirty="0" smtClean="0"/>
              <a:t>Objectif : Vitrine et Conversion Modernité 2026 Technique et Maîtrise complet des langages</a:t>
            </a:r>
          </a:p>
          <a:p>
            <a:r>
              <a:rPr lang="fr-FR" sz="2800" b="1" dirty="0" smtClean="0"/>
              <a:t>public cible : Les freelances </a:t>
            </a:r>
            <a:r>
              <a:rPr lang="fr-FR" sz="2800" b="1" dirty="0" err="1" smtClean="0"/>
              <a:t>Techs</a:t>
            </a:r>
            <a:r>
              <a:rPr lang="fr-FR" sz="2800" b="1" dirty="0" smtClean="0"/>
              <a:t> et les Entreprises, Recruteurs</a:t>
            </a:r>
          </a:p>
          <a:p>
            <a:endParaRPr lang="fr-FR" dirty="0"/>
          </a:p>
        </p:txBody>
      </p:sp>
    </p:spTree>
    <p:extLst>
      <p:ext uri="{BB962C8B-B14F-4D97-AF65-F5344CB8AC3E}">
        <p14:creationId xmlns:p14="http://schemas.microsoft.com/office/powerpoint/2010/main" val="338978251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sz="6000" b="1" i="1" dirty="0">
                <a:latin typeface="Algerian" panose="04020705040A02060702" pitchFamily="82" charset="0"/>
              </a:rPr>
              <a:t>Choix de design </a:t>
            </a:r>
            <a:r>
              <a:rPr lang="fr-FR" dirty="0"/>
              <a:t>: </a:t>
            </a:r>
            <a:r>
              <a:rPr lang="fr-FR" dirty="0" smtClean="0"/>
              <a:t>polices </a:t>
            </a:r>
            <a:r>
              <a:rPr lang="fr-FR" dirty="0"/>
              <a:t>(justification), inspirations</a:t>
            </a:r>
          </a:p>
        </p:txBody>
      </p:sp>
      <p:sp>
        <p:nvSpPr>
          <p:cNvPr id="3" name="Espace réservé du contenu 2"/>
          <p:cNvSpPr>
            <a:spLocks noGrp="1"/>
          </p:cNvSpPr>
          <p:nvPr>
            <p:ph idx="1"/>
          </p:nvPr>
        </p:nvSpPr>
        <p:spPr/>
        <p:txBody>
          <a:bodyPr>
            <a:normAutofit fontScale="92500" lnSpcReduction="10000"/>
          </a:bodyPr>
          <a:lstStyle/>
          <a:p>
            <a:r>
              <a:rPr lang="fr-FR" sz="2800" b="1" dirty="0" smtClean="0"/>
              <a:t>Palette :(le noir , l’orange , bleu , blanc et gris)</a:t>
            </a:r>
            <a:r>
              <a:rPr lang="fr-FR" sz="2800" dirty="0" smtClean="0"/>
              <a:t> </a:t>
            </a:r>
            <a:r>
              <a:rPr lang="fr-FR" sz="2800" dirty="0"/>
              <a:t>Contrastes validés pour la navigation de tous les </a:t>
            </a:r>
            <a:r>
              <a:rPr lang="fr-FR" sz="2800" dirty="0" smtClean="0"/>
              <a:t>utilisateurs pour une vue attirante et augmente</a:t>
            </a:r>
            <a:endParaRPr lang="fr-FR" sz="2800" b="1" dirty="0" smtClean="0"/>
          </a:p>
          <a:p>
            <a:r>
              <a:rPr lang="en-US" sz="2800" b="1" dirty="0" smtClean="0"/>
              <a:t>Police : </a:t>
            </a:r>
            <a:r>
              <a:rPr lang="fr-FR" dirty="0" smtClean="0"/>
              <a:t>Plus </a:t>
            </a:r>
            <a:r>
              <a:rPr lang="fr-FR" dirty="0"/>
              <a:t>Jakarta </a:t>
            </a:r>
            <a:r>
              <a:rPr lang="fr-FR" dirty="0" smtClean="0"/>
              <a:t>Sans, Inter ,sans-</a:t>
            </a:r>
            <a:r>
              <a:rPr lang="fr-FR" dirty="0" err="1" smtClean="0"/>
              <a:t>serif</a:t>
            </a:r>
            <a:r>
              <a:rPr lang="fr-FR" dirty="0" smtClean="0"/>
              <a:t>.</a:t>
            </a:r>
            <a:r>
              <a:rPr lang="fr-FR" sz="2800" dirty="0"/>
              <a:t> Le duo de polices </a:t>
            </a:r>
            <a:r>
              <a:rPr lang="fr-FR" sz="2800" b="1" dirty="0"/>
              <a:t>Plus Jakarta Sans</a:t>
            </a:r>
            <a:r>
              <a:rPr lang="fr-FR" sz="2800" dirty="0"/>
              <a:t> et </a:t>
            </a:r>
            <a:r>
              <a:rPr lang="fr-FR" sz="2800" b="1" dirty="0"/>
              <a:t>Inter</a:t>
            </a:r>
            <a:r>
              <a:rPr lang="fr-FR" sz="2800" dirty="0"/>
              <a:t> est un choix particulièrement stratégique pour l'écosystème web de 2026 : il combine la géométrie moderne de </a:t>
            </a:r>
            <a:r>
              <a:rPr lang="fr-FR" sz="2800" i="1" dirty="0"/>
              <a:t>Plus Jakarta Sans</a:t>
            </a:r>
            <a:r>
              <a:rPr lang="fr-FR" sz="2800" dirty="0"/>
              <a:t> pour les titres et la lisibilité absolue d'</a:t>
            </a:r>
            <a:r>
              <a:rPr lang="fr-FR" sz="2800" i="1" dirty="0"/>
              <a:t>Inter</a:t>
            </a:r>
            <a:r>
              <a:rPr lang="fr-FR" sz="2800" dirty="0"/>
              <a:t> pour les longs blocs de texte.</a:t>
            </a:r>
            <a:endParaRPr lang="en-US" sz="2800" b="1" dirty="0" smtClean="0"/>
          </a:p>
        </p:txBody>
      </p:sp>
    </p:spTree>
    <p:extLst>
      <p:ext uri="{BB962C8B-B14F-4D97-AF65-F5344CB8AC3E}">
        <p14:creationId xmlns:p14="http://schemas.microsoft.com/office/powerpoint/2010/main" val="394327674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42950" y="904875"/>
            <a:ext cx="10801350" cy="5170646"/>
          </a:xfrm>
          <a:prstGeom prst="rect">
            <a:avLst/>
          </a:prstGeom>
        </p:spPr>
        <p:txBody>
          <a:bodyPr wrap="square">
            <a:spAutoFit/>
          </a:bodyPr>
          <a:lstStyle/>
          <a:p>
            <a:r>
              <a:rPr lang="en-US" sz="2200" b="1" dirty="0"/>
              <a:t>Inspiration</a:t>
            </a:r>
            <a:r>
              <a:rPr lang="fr-FR" sz="2200" b="1" dirty="0"/>
              <a:t> :</a:t>
            </a:r>
            <a:r>
              <a:rPr lang="fr-FR" sz="2200" dirty="0"/>
              <a:t>Une identité forte centrée sur la carte de l'Afrique pour affirmer l'ancrage continental et tendances web de 2026, épurées et asymétriques. L'identité visuelle d'</a:t>
            </a:r>
            <a:r>
              <a:rPr lang="fr-FR" sz="2200" dirty="0" err="1"/>
              <a:t>AfriTalent</a:t>
            </a:r>
            <a:r>
              <a:rPr lang="fr-FR" sz="2200" dirty="0"/>
              <a:t> 2026 est conçue comme un pont esthétique reliant la rigueur de l'ingénierie </a:t>
            </a:r>
            <a:r>
              <a:rPr lang="fr-FR" sz="2200" dirty="0" err="1"/>
              <a:t>tech</a:t>
            </a:r>
            <a:r>
              <a:rPr lang="fr-FR" sz="2200" dirty="0"/>
              <a:t> internationale à l'énergie vibrante et créative du continent africain. En mariant la profondeur structurante du Bleu Abyssal, symbole de stabilité et de confiance professionnelle, à l'élan audacieux de l'Orange Safari qui évoque l'action et le dynamisme, la plateforme installe d'emblée une atmosphère d'innovation et de progrès. Cette tension créative s'équilibre harmonieusement sur un fond épuré oscillant entre la clarté du Blanc Craie et l'intensité moderne du Noir Carbone pour le mode nuit, structuré par une Bento </a:t>
            </a:r>
            <a:r>
              <a:rPr lang="fr-FR" sz="2200" dirty="0" err="1"/>
              <a:t>Grid</a:t>
            </a:r>
            <a:r>
              <a:rPr lang="fr-FR" sz="2200" dirty="0"/>
              <a:t> aux bordures Gris Acier d'une précision millimétrique. Portée par la typographie géométrique et ambitieuse </a:t>
            </a:r>
            <a:r>
              <a:rPr lang="fr-FR" sz="2200" i="1" dirty="0"/>
              <a:t>Plus Jakarta Sans</a:t>
            </a:r>
            <a:r>
              <a:rPr lang="fr-FR" sz="2200" dirty="0"/>
              <a:t> pour ses titres et la neutralité fonctionnelle de la police </a:t>
            </a:r>
            <a:r>
              <a:rPr lang="fr-FR" sz="2200" i="1" dirty="0"/>
              <a:t>Inter</a:t>
            </a:r>
            <a:r>
              <a:rPr lang="fr-FR" sz="2200" dirty="0"/>
              <a:t> pour ses contenus, l'interface offre une lisibilité irréprochable et un confort de lecture universel. </a:t>
            </a:r>
            <a:r>
              <a:rPr lang="fr-FR" sz="2200" dirty="0" err="1"/>
              <a:t>AfriTalent</a:t>
            </a:r>
            <a:r>
              <a:rPr lang="fr-FR" sz="2200" dirty="0"/>
              <a:t> ne se contente pas d'aligner des profils, elle orchestre une expérience visuelle immersive et mémorable qui donne corps à la nouvelle ère de l'excellence technologique africaine.</a:t>
            </a:r>
          </a:p>
          <a:p>
            <a:endParaRPr lang="en-US" sz="2200" b="1" dirty="0"/>
          </a:p>
        </p:txBody>
      </p:sp>
    </p:spTree>
    <p:extLst>
      <p:ext uri="{BB962C8B-B14F-4D97-AF65-F5344CB8AC3E}">
        <p14:creationId xmlns:p14="http://schemas.microsoft.com/office/powerpoint/2010/main" val="47334253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295402" y="658282"/>
            <a:ext cx="9601196" cy="1303867"/>
          </a:xfrm>
        </p:spPr>
        <p:txBody>
          <a:bodyPr>
            <a:normAutofit/>
          </a:bodyPr>
          <a:lstStyle/>
          <a:p>
            <a:r>
              <a:rPr lang="fr-FR" sz="6000" b="1" i="1" dirty="0">
                <a:latin typeface="Algerian" panose="04020705040A02060702" pitchFamily="82" charset="0"/>
              </a:rPr>
              <a:t>Architecture</a:t>
            </a:r>
            <a:r>
              <a:rPr lang="fr-FR" dirty="0"/>
              <a:t> </a:t>
            </a:r>
            <a:r>
              <a:rPr lang="fr-FR" dirty="0" smtClean="0"/>
              <a:t>:</a:t>
            </a:r>
            <a:endParaRPr lang="fr-FR" dirty="0"/>
          </a:p>
        </p:txBody>
      </p:sp>
      <p:sp>
        <p:nvSpPr>
          <p:cNvPr id="3" name="Espace réservé du contenu 2"/>
          <p:cNvSpPr>
            <a:spLocks noGrp="1"/>
          </p:cNvSpPr>
          <p:nvPr>
            <p:ph idx="1"/>
          </p:nvPr>
        </p:nvSpPr>
        <p:spPr>
          <a:xfrm>
            <a:off x="1219202" y="1748790"/>
            <a:ext cx="9601196" cy="4019127"/>
          </a:xfrm>
        </p:spPr>
        <p:txBody>
          <a:bodyPr/>
          <a:lstStyle/>
          <a:p>
            <a:r>
              <a:rPr lang="fr-FR" dirty="0"/>
              <a:t>captures d'écran des </a:t>
            </a:r>
            <a:r>
              <a:rPr lang="fr-FR" dirty="0" smtClean="0"/>
              <a:t>pages</a:t>
            </a:r>
          </a:p>
        </p:txBody>
      </p:sp>
      <p:pic>
        <p:nvPicPr>
          <p:cNvPr id="5" name="Imag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2956" y="2535317"/>
            <a:ext cx="3138168" cy="1691038"/>
          </a:xfrm>
          <a:prstGeom prst="rect">
            <a:avLst/>
          </a:prstGeom>
        </p:spPr>
      </p:pic>
      <p:pic>
        <p:nvPicPr>
          <p:cNvPr id="4" name="Imag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24689" y="4426343"/>
            <a:ext cx="3590222" cy="1753117"/>
          </a:xfrm>
          <a:prstGeom prst="rect">
            <a:avLst/>
          </a:prstGeom>
        </p:spPr>
      </p:pic>
      <p:pic>
        <p:nvPicPr>
          <p:cNvPr id="6" name="Imag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57370" y="2535317"/>
            <a:ext cx="3214368" cy="1782699"/>
          </a:xfrm>
          <a:prstGeom prst="rect">
            <a:avLst/>
          </a:prstGeom>
        </p:spPr>
      </p:pic>
      <p:pic>
        <p:nvPicPr>
          <p:cNvPr id="7" name="Image 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02956" y="4426344"/>
            <a:ext cx="2983229" cy="1753116"/>
          </a:xfrm>
          <a:prstGeom prst="rect">
            <a:avLst/>
          </a:prstGeom>
        </p:spPr>
      </p:pic>
      <p:pic>
        <p:nvPicPr>
          <p:cNvPr id="8" name="Image 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237218" y="2535317"/>
            <a:ext cx="2899426" cy="1691038"/>
          </a:xfrm>
          <a:prstGeom prst="rect">
            <a:avLst/>
          </a:prstGeom>
        </p:spPr>
      </p:pic>
    </p:spTree>
    <p:extLst>
      <p:ext uri="{BB962C8B-B14F-4D97-AF65-F5344CB8AC3E}">
        <p14:creationId xmlns:p14="http://schemas.microsoft.com/office/powerpoint/2010/main" val="69261801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809625" y="1585943"/>
            <a:ext cx="6096000" cy="4524315"/>
          </a:xfrm>
          <a:prstGeom prst="rect">
            <a:avLst/>
          </a:prstGeom>
        </p:spPr>
        <p:txBody>
          <a:bodyPr>
            <a:spAutoFit/>
          </a:bodyPr>
          <a:lstStyle/>
          <a:p>
            <a:r>
              <a:rPr lang="fr-FR" dirty="0" smtClean="0"/>
              <a:t>FALL-MOUHAMED-</a:t>
            </a:r>
            <a:r>
              <a:rPr lang="fr-FR" dirty="0" err="1" smtClean="0"/>
              <a:t>AfriTalent</a:t>
            </a:r>
            <a:r>
              <a:rPr lang="fr-FR" dirty="0"/>
              <a:t>/</a:t>
            </a:r>
          </a:p>
          <a:p>
            <a:r>
              <a:rPr lang="fr-FR" dirty="0"/>
              <a:t>├── index.html</a:t>
            </a:r>
          </a:p>
          <a:p>
            <a:r>
              <a:rPr lang="fr-FR" dirty="0"/>
              <a:t>├── freelances.html</a:t>
            </a:r>
          </a:p>
          <a:p>
            <a:r>
              <a:rPr lang="fr-FR" dirty="0"/>
              <a:t>├── tarifs.html </a:t>
            </a:r>
          </a:p>
          <a:p>
            <a:r>
              <a:rPr lang="fr-FR" dirty="0"/>
              <a:t>├── about.html</a:t>
            </a:r>
          </a:p>
          <a:p>
            <a:r>
              <a:rPr lang="fr-FR" dirty="0"/>
              <a:t>├── contact.html </a:t>
            </a:r>
          </a:p>
          <a:p>
            <a:r>
              <a:rPr lang="fr-FR" dirty="0"/>
              <a:t>├── </a:t>
            </a:r>
            <a:r>
              <a:rPr lang="fr-FR" dirty="0" err="1"/>
              <a:t>css</a:t>
            </a:r>
            <a:r>
              <a:rPr lang="fr-FR" dirty="0"/>
              <a:t>/</a:t>
            </a:r>
          </a:p>
          <a:p>
            <a:r>
              <a:rPr lang="fr-FR" dirty="0"/>
              <a:t>│   └── style.css</a:t>
            </a:r>
          </a:p>
          <a:p>
            <a:r>
              <a:rPr lang="fr-FR" dirty="0"/>
              <a:t>├── </a:t>
            </a:r>
            <a:r>
              <a:rPr lang="fr-FR" dirty="0" err="1"/>
              <a:t>js</a:t>
            </a:r>
            <a:r>
              <a:rPr lang="fr-FR" dirty="0"/>
              <a:t>/</a:t>
            </a:r>
          </a:p>
          <a:p>
            <a:r>
              <a:rPr lang="fr-FR" dirty="0"/>
              <a:t>│   └── main.js</a:t>
            </a:r>
          </a:p>
          <a:p>
            <a:r>
              <a:rPr lang="fr-FR" dirty="0"/>
              <a:t>├── images/</a:t>
            </a:r>
          </a:p>
          <a:p>
            <a:r>
              <a:rPr lang="fr-FR" dirty="0"/>
              <a:t>│   └── </a:t>
            </a:r>
            <a:r>
              <a:rPr lang="fr-FR" dirty="0" smtClean="0"/>
              <a:t>(images</a:t>
            </a:r>
            <a:r>
              <a:rPr lang="fr-FR" dirty="0"/>
              <a:t>, logos</a:t>
            </a:r>
            <a:r>
              <a:rPr lang="fr-FR" dirty="0" smtClean="0"/>
              <a:t>,)</a:t>
            </a:r>
            <a:endParaRPr lang="fr-FR" dirty="0"/>
          </a:p>
          <a:p>
            <a:r>
              <a:rPr lang="fr-FR" dirty="0"/>
              <a:t>├── docs/</a:t>
            </a:r>
          </a:p>
          <a:p>
            <a:r>
              <a:rPr lang="fr-FR" dirty="0"/>
              <a:t>│   └──</a:t>
            </a:r>
          </a:p>
          <a:p>
            <a:r>
              <a:rPr lang="fr-FR" dirty="0"/>
              <a:t>├── README.md</a:t>
            </a:r>
          </a:p>
          <a:p>
            <a:r>
              <a:rPr lang="fr-FR" dirty="0"/>
              <a:t>└── .</a:t>
            </a:r>
            <a:r>
              <a:rPr lang="fr-FR" dirty="0" err="1"/>
              <a:t>gitignore</a:t>
            </a:r>
            <a:r>
              <a:rPr lang="fr-FR" dirty="0"/>
              <a:t> </a:t>
            </a:r>
          </a:p>
        </p:txBody>
      </p:sp>
      <p:sp>
        <p:nvSpPr>
          <p:cNvPr id="3" name="Rectangle 2"/>
          <p:cNvSpPr/>
          <p:nvPr/>
        </p:nvSpPr>
        <p:spPr>
          <a:xfrm>
            <a:off x="809625" y="796409"/>
            <a:ext cx="2257425" cy="523220"/>
          </a:xfrm>
          <a:prstGeom prst="rect">
            <a:avLst/>
          </a:prstGeom>
        </p:spPr>
        <p:txBody>
          <a:bodyPr wrap="square">
            <a:spAutoFit/>
          </a:bodyPr>
          <a:lstStyle/>
          <a:p>
            <a:r>
              <a:rPr lang="fr-FR" sz="2800" b="1" u="sng" dirty="0" smtClean="0"/>
              <a:t>Arborescence</a:t>
            </a:r>
            <a:endParaRPr lang="fr-FR" sz="2800" b="1" u="sng" dirty="0"/>
          </a:p>
        </p:txBody>
      </p:sp>
    </p:spTree>
    <p:extLst>
      <p:ext uri="{BB962C8B-B14F-4D97-AF65-F5344CB8AC3E}">
        <p14:creationId xmlns:p14="http://schemas.microsoft.com/office/powerpoint/2010/main" val="51886924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FR" sz="6000" b="1" i="1" dirty="0">
                <a:latin typeface="Algerian" panose="04020705040A02060702" pitchFamily="82" charset="0"/>
              </a:rPr>
              <a:t>Points </a:t>
            </a:r>
            <a:r>
              <a:rPr lang="fr-FR" sz="6000" b="1" i="1" dirty="0" smtClean="0">
                <a:latin typeface="Algerian" panose="04020705040A02060702" pitchFamily="82" charset="0"/>
              </a:rPr>
              <a:t>techniques</a:t>
            </a:r>
            <a:endParaRPr lang="fr-FR" dirty="0"/>
          </a:p>
        </p:txBody>
      </p:sp>
      <p:sp>
        <p:nvSpPr>
          <p:cNvPr id="3" name="Espace réservé du contenu 2"/>
          <p:cNvSpPr>
            <a:spLocks noGrp="1"/>
          </p:cNvSpPr>
          <p:nvPr>
            <p:ph idx="1"/>
          </p:nvPr>
        </p:nvSpPr>
        <p:spPr/>
        <p:txBody>
          <a:bodyPr>
            <a:normAutofit fontScale="85000" lnSpcReduction="10000"/>
          </a:bodyPr>
          <a:lstStyle/>
          <a:p>
            <a:r>
              <a:rPr lang="fr-FR" dirty="0"/>
              <a:t>JS </a:t>
            </a:r>
            <a:r>
              <a:rPr lang="fr-FR" dirty="0" smtClean="0"/>
              <a:t>[extraits </a:t>
            </a:r>
            <a:r>
              <a:rPr lang="fr-FR" dirty="0"/>
              <a:t>de code + </a:t>
            </a:r>
            <a:r>
              <a:rPr lang="fr-FR" dirty="0" smtClean="0"/>
              <a:t>logique] on a </a:t>
            </a:r>
            <a:r>
              <a:rPr lang="fr-FR" dirty="0" err="1" smtClean="0"/>
              <a:t>employe</a:t>
            </a:r>
            <a:r>
              <a:rPr lang="fr-FR" dirty="0" smtClean="0"/>
              <a:t> le </a:t>
            </a:r>
            <a:r>
              <a:rPr lang="fr-FR" dirty="0" err="1" smtClean="0"/>
              <a:t>js</a:t>
            </a:r>
            <a:r>
              <a:rPr lang="fr-FR" dirty="0" smtClean="0"/>
              <a:t>(changement de style au </a:t>
            </a:r>
            <a:r>
              <a:rPr lang="fr-FR" dirty="0" err="1" smtClean="0"/>
              <a:t>scrool</a:t>
            </a:r>
            <a:r>
              <a:rPr lang="fr-FR" dirty="0" smtClean="0"/>
              <a:t>) pour interagir et de dynamiser le site comme par exemple le </a:t>
            </a:r>
            <a:r>
              <a:rPr lang="fr-FR" dirty="0" err="1" smtClean="0"/>
              <a:t>scrool</a:t>
            </a:r>
            <a:r>
              <a:rPr lang="fr-FR" dirty="0" smtClean="0"/>
              <a:t> sur la page. Ensuite le </a:t>
            </a:r>
            <a:r>
              <a:rPr lang="fr-FR" dirty="0" err="1" smtClean="0"/>
              <a:t>Toggle</a:t>
            </a:r>
            <a:r>
              <a:rPr lang="fr-FR" dirty="0" smtClean="0"/>
              <a:t> </a:t>
            </a:r>
            <a:r>
              <a:rPr lang="fr-FR" dirty="0" err="1" smtClean="0"/>
              <a:t>Dark</a:t>
            </a:r>
            <a:r>
              <a:rPr lang="fr-FR" dirty="0" smtClean="0"/>
              <a:t> mode avec la persistance </a:t>
            </a:r>
            <a:r>
              <a:rPr lang="fr-FR" dirty="0" err="1" smtClean="0"/>
              <a:t>localstorage</a:t>
            </a:r>
            <a:r>
              <a:rPr lang="fr-FR" dirty="0" smtClean="0"/>
              <a:t> et </a:t>
            </a:r>
            <a:r>
              <a:rPr lang="fr-FR" dirty="0" err="1" smtClean="0"/>
              <a:t>verifier</a:t>
            </a:r>
            <a:r>
              <a:rPr lang="fr-FR" dirty="0" smtClean="0"/>
              <a:t> le du </a:t>
            </a:r>
            <a:r>
              <a:rPr lang="fr-FR" dirty="0" err="1" smtClean="0"/>
              <a:t>theme</a:t>
            </a:r>
            <a:r>
              <a:rPr lang="fr-FR" dirty="0" smtClean="0"/>
              <a:t> . </a:t>
            </a:r>
            <a:r>
              <a:rPr lang="fr-FR" dirty="0"/>
              <a:t>E</a:t>
            </a:r>
            <a:r>
              <a:rPr lang="fr-FR" dirty="0" smtClean="0"/>
              <a:t>t enfin astuce de de </a:t>
            </a:r>
            <a:r>
              <a:rPr lang="fr-FR" dirty="0" err="1" smtClean="0"/>
              <a:t>css</a:t>
            </a:r>
            <a:r>
              <a:rPr lang="fr-FR" dirty="0" smtClean="0"/>
              <a:t> pour lier le </a:t>
            </a:r>
            <a:r>
              <a:rPr lang="fr-FR" dirty="0" err="1" smtClean="0"/>
              <a:t>javascript</a:t>
            </a:r>
            <a:r>
              <a:rPr lang="fr-FR" dirty="0" smtClean="0"/>
              <a:t> </a:t>
            </a:r>
            <a:endParaRPr lang="fr-FR" dirty="0" smtClean="0"/>
          </a:p>
          <a:p>
            <a:r>
              <a:rPr lang="fr-FR" dirty="0" err="1"/>
              <a:t>Bootstrap</a:t>
            </a:r>
            <a:r>
              <a:rPr lang="fr-FR" dirty="0"/>
              <a:t> </a:t>
            </a:r>
            <a:r>
              <a:rPr lang="fr-FR" dirty="0" smtClean="0"/>
              <a:t>[composants utilisés</a:t>
            </a:r>
            <a:r>
              <a:rPr lang="fr-FR" dirty="0"/>
              <a:t>] Pour un projet web moderne, performant et élégant (comme une plateforme </a:t>
            </a:r>
            <a:r>
              <a:rPr lang="fr-FR" dirty="0" err="1"/>
              <a:t>SaaS</a:t>
            </a:r>
            <a:r>
              <a:rPr lang="fr-FR" dirty="0"/>
              <a:t> ou une </a:t>
            </a:r>
            <a:r>
              <a:rPr lang="fr-FR" dirty="0" err="1"/>
              <a:t>marketplace</a:t>
            </a:r>
            <a:r>
              <a:rPr lang="fr-FR" dirty="0"/>
              <a:t> de freelances), l'utilisation stratégique des composants </a:t>
            </a:r>
            <a:r>
              <a:rPr lang="fr-FR" b="1" dirty="0" err="1"/>
              <a:t>Bootstrap</a:t>
            </a:r>
            <a:r>
              <a:rPr lang="fr-FR" b="1" dirty="0"/>
              <a:t> 5</a:t>
            </a:r>
            <a:r>
              <a:rPr lang="fr-FR" dirty="0"/>
              <a:t> permet de gagner un temps précieux sur l'ergonomie et la réactivité (</a:t>
            </a:r>
            <a:r>
              <a:rPr lang="fr-FR" dirty="0" err="1"/>
              <a:t>responsiveness</a:t>
            </a:r>
            <a:r>
              <a:rPr lang="fr-FR" dirty="0" smtClean="0"/>
              <a:t>).on a utiliser la barre de navigation , le système de grille mixte , les cartes ,l’</a:t>
            </a:r>
            <a:r>
              <a:rPr lang="fr-FR" dirty="0" err="1" smtClean="0"/>
              <a:t>accordéon,les</a:t>
            </a:r>
            <a:r>
              <a:rPr lang="fr-FR" dirty="0" smtClean="0"/>
              <a:t> </a:t>
            </a:r>
            <a:r>
              <a:rPr lang="fr-FR" dirty="0" err="1" smtClean="0"/>
              <a:t>bouttons</a:t>
            </a:r>
            <a:r>
              <a:rPr lang="fr-FR" dirty="0" smtClean="0"/>
              <a:t> , les badges , et les composants dynamiques </a:t>
            </a:r>
            <a:endParaRPr lang="fr-FR" dirty="0" smtClean="0"/>
          </a:p>
          <a:p>
            <a:r>
              <a:rPr lang="fr-FR" sz="1400" dirty="0"/>
              <a:t/>
            </a:r>
            <a:br>
              <a:rPr lang="fr-FR" sz="1400" dirty="0"/>
            </a:br>
            <a:endParaRPr lang="fr-FR" dirty="0"/>
          </a:p>
        </p:txBody>
      </p:sp>
    </p:spTree>
    <p:extLst>
      <p:ext uri="{BB962C8B-B14F-4D97-AF65-F5344CB8AC3E}">
        <p14:creationId xmlns:p14="http://schemas.microsoft.com/office/powerpoint/2010/main" val="275074095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6275" y="714374"/>
            <a:ext cx="10572750" cy="646331"/>
          </a:xfrm>
          <a:prstGeom prst="rect">
            <a:avLst/>
          </a:prstGeom>
        </p:spPr>
        <p:txBody>
          <a:bodyPr wrap="square">
            <a:spAutoFit/>
          </a:bodyPr>
          <a:lstStyle/>
          <a:p>
            <a:r>
              <a:rPr lang="fr-FR" dirty="0" smtClean="0"/>
              <a:t>  </a:t>
            </a:r>
          </a:p>
          <a:p>
            <a:endParaRPr lang="fr-FR" dirty="0"/>
          </a:p>
        </p:txBody>
      </p:sp>
      <p:sp>
        <p:nvSpPr>
          <p:cNvPr id="11" name="Titre 10"/>
          <p:cNvSpPr>
            <a:spLocks noGrp="1"/>
          </p:cNvSpPr>
          <p:nvPr>
            <p:ph type="title"/>
          </p:nvPr>
        </p:nvSpPr>
        <p:spPr/>
        <p:txBody>
          <a:bodyPr/>
          <a:lstStyle/>
          <a:p>
            <a:r>
              <a:rPr lang="en-US" dirty="0" err="1" smtClean="0"/>
              <a:t>Css</a:t>
            </a:r>
            <a:r>
              <a:rPr lang="en-US" dirty="0" smtClean="0"/>
              <a:t>: </a:t>
            </a:r>
            <a:r>
              <a:rPr lang="en-US" dirty="0" err="1" smtClean="0"/>
              <a:t>avancee</a:t>
            </a:r>
            <a:endParaRPr lang="fr-FR" dirty="0"/>
          </a:p>
        </p:txBody>
      </p:sp>
      <p:sp>
        <p:nvSpPr>
          <p:cNvPr id="12" name="Espace réservé du contenu 11"/>
          <p:cNvSpPr>
            <a:spLocks noGrp="1"/>
          </p:cNvSpPr>
          <p:nvPr>
            <p:ph idx="1"/>
          </p:nvPr>
        </p:nvSpPr>
        <p:spPr/>
        <p:txBody>
          <a:bodyPr/>
          <a:lstStyle/>
          <a:p>
            <a:r>
              <a:rPr lang="en-US" dirty="0" smtClean="0"/>
              <a:t>Le </a:t>
            </a:r>
            <a:r>
              <a:rPr lang="en-US" dirty="0" err="1" smtClean="0"/>
              <a:t>loyaute</a:t>
            </a:r>
            <a:r>
              <a:rPr lang="en-US" dirty="0" smtClean="0"/>
              <a:t> (le bento Grid </a:t>
            </a:r>
            <a:r>
              <a:rPr lang="en-US" dirty="0" err="1" smtClean="0"/>
              <a:t>avance</a:t>
            </a:r>
            <a:r>
              <a:rPr lang="en-US" dirty="0" smtClean="0"/>
              <a:t>)</a:t>
            </a:r>
          </a:p>
          <a:p>
            <a:r>
              <a:rPr lang="en-US" dirty="0" smtClean="0"/>
              <a:t>Le visual(le </a:t>
            </a:r>
            <a:r>
              <a:rPr lang="en-US" dirty="0" err="1" smtClean="0"/>
              <a:t>glassmorphism</a:t>
            </a:r>
            <a:r>
              <a:rPr lang="en-US" dirty="0" smtClean="0"/>
              <a:t>)</a:t>
            </a:r>
            <a:r>
              <a:rPr lang="en-US" dirty="0" err="1" smtClean="0"/>
              <a:t>effet</a:t>
            </a:r>
            <a:r>
              <a:rPr lang="en-US" dirty="0" smtClean="0"/>
              <a:t> de </a:t>
            </a:r>
            <a:r>
              <a:rPr lang="en-US" dirty="0" err="1" smtClean="0"/>
              <a:t>verre</a:t>
            </a:r>
            <a:r>
              <a:rPr lang="en-US" dirty="0" smtClean="0"/>
              <a:t> </a:t>
            </a:r>
            <a:r>
              <a:rPr lang="en-US" dirty="0" err="1" smtClean="0"/>
              <a:t>depoli</a:t>
            </a:r>
            <a:endParaRPr lang="en-US" dirty="0" smtClean="0"/>
          </a:p>
          <a:p>
            <a:r>
              <a:rPr lang="en-US" dirty="0" err="1" smtClean="0"/>
              <a:t>L’ambiance</a:t>
            </a:r>
            <a:r>
              <a:rPr lang="en-US" dirty="0" smtClean="0"/>
              <a:t> des degrader de context glow effects</a:t>
            </a:r>
          </a:p>
          <a:p>
            <a:r>
              <a:rPr lang="en-US" dirty="0" smtClean="0"/>
              <a:t>Les variables </a:t>
            </a:r>
            <a:r>
              <a:rPr lang="en-US" dirty="0" err="1" smtClean="0"/>
              <a:t>css</a:t>
            </a:r>
            <a:r>
              <a:rPr lang="en-US" dirty="0" smtClean="0"/>
              <a:t> pour la </a:t>
            </a:r>
            <a:r>
              <a:rPr lang="en-US" dirty="0" err="1" smtClean="0"/>
              <a:t>gestion</a:t>
            </a:r>
            <a:r>
              <a:rPr lang="en-US" dirty="0" smtClean="0"/>
              <a:t> des themes</a:t>
            </a:r>
          </a:p>
          <a:p>
            <a:r>
              <a:rPr lang="en-US" dirty="0" smtClean="0"/>
              <a:t>Micro-interactions (les transitions </a:t>
            </a:r>
            <a:r>
              <a:rPr lang="en-US" dirty="0" err="1" smtClean="0"/>
              <a:t>fluides</a:t>
            </a:r>
            <a:r>
              <a:rPr lang="en-US" dirty="0" smtClean="0"/>
              <a:t>)</a:t>
            </a:r>
            <a:endParaRPr lang="fr-FR" dirty="0"/>
          </a:p>
        </p:txBody>
      </p:sp>
    </p:spTree>
    <p:extLst>
      <p:ext uri="{BB962C8B-B14F-4D97-AF65-F5344CB8AC3E}">
        <p14:creationId xmlns:p14="http://schemas.microsoft.com/office/powerpoint/2010/main" val="14768114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sz="6000" b="1" i="1" dirty="0">
                <a:latin typeface="Algerian" panose="04020705040A02060702" pitchFamily="82" charset="0"/>
              </a:rPr>
              <a:t>GitHub</a:t>
            </a:r>
            <a:r>
              <a:rPr lang="fr-FR" dirty="0"/>
              <a:t> : historique des </a:t>
            </a:r>
            <a:r>
              <a:rPr lang="fr-FR" dirty="0" err="1"/>
              <a:t>commits</a:t>
            </a:r>
            <a:r>
              <a:rPr lang="fr-FR" dirty="0"/>
              <a:t>, workflow Git, lien GitHub Pages</a:t>
            </a:r>
          </a:p>
        </p:txBody>
      </p:sp>
      <p:sp>
        <p:nvSpPr>
          <p:cNvPr id="3" name="Espace réservé du contenu 2"/>
          <p:cNvSpPr>
            <a:spLocks noGrp="1"/>
          </p:cNvSpPr>
          <p:nvPr>
            <p:ph idx="1"/>
          </p:nvPr>
        </p:nvSpPr>
        <p:spPr>
          <a:xfrm>
            <a:off x="1295401" y="2434590"/>
            <a:ext cx="9601196" cy="3441278"/>
          </a:xfrm>
        </p:spPr>
        <p:txBody>
          <a:bodyPr>
            <a:normAutofit fontScale="92500"/>
          </a:bodyPr>
          <a:lstStyle/>
          <a:p>
            <a:r>
              <a:rPr lang="fr-FR" dirty="0"/>
              <a:t>historique des </a:t>
            </a:r>
            <a:r>
              <a:rPr lang="fr-FR" dirty="0" err="1"/>
              <a:t>commits</a:t>
            </a:r>
            <a:r>
              <a:rPr lang="fr-FR" dirty="0"/>
              <a:t> Utilisation </a:t>
            </a:r>
            <a:r>
              <a:rPr lang="fr-FR" dirty="0" smtClean="0"/>
              <a:t>du git  </a:t>
            </a:r>
            <a:endParaRPr lang="fr-FR" dirty="0" smtClean="0"/>
          </a:p>
          <a:p>
            <a:endParaRPr lang="fr-FR" dirty="0"/>
          </a:p>
          <a:p>
            <a:pPr marL="0" indent="0">
              <a:buNone/>
            </a:pPr>
            <a:endParaRPr lang="fr-FR" dirty="0" smtClean="0"/>
          </a:p>
          <a:p>
            <a:r>
              <a:rPr lang="en-US" dirty="0" err="1" smtClean="0"/>
              <a:t>Commande</a:t>
            </a:r>
            <a:r>
              <a:rPr lang="en-US" dirty="0" smtClean="0"/>
              <a:t> </a:t>
            </a:r>
            <a:r>
              <a:rPr lang="en-US" dirty="0" err="1" smtClean="0"/>
              <a:t>principale</a:t>
            </a:r>
            <a:r>
              <a:rPr lang="en-US" dirty="0" smtClean="0"/>
              <a:t>: (</a:t>
            </a:r>
            <a:r>
              <a:rPr lang="en-US" dirty="0" err="1" smtClean="0"/>
              <a:t>git</a:t>
            </a:r>
            <a:r>
              <a:rPr lang="en-US" dirty="0" smtClean="0"/>
              <a:t> add .),(</a:t>
            </a:r>
            <a:r>
              <a:rPr lang="en-US" dirty="0" err="1" smtClean="0"/>
              <a:t>git</a:t>
            </a:r>
            <a:r>
              <a:rPr lang="en-US" dirty="0" smtClean="0"/>
              <a:t> commit –m” message”),(</a:t>
            </a:r>
            <a:r>
              <a:rPr lang="en-US" dirty="0" err="1" smtClean="0"/>
              <a:t>git</a:t>
            </a:r>
            <a:r>
              <a:rPr lang="en-US" dirty="0" smtClean="0"/>
              <a:t> push origin main)</a:t>
            </a:r>
          </a:p>
          <a:p>
            <a:r>
              <a:rPr lang="en-US" dirty="0" err="1" smtClean="0"/>
              <a:t>Deploiement</a:t>
            </a:r>
            <a:r>
              <a:rPr lang="en-US" dirty="0" smtClean="0"/>
              <a:t> [ GitHub pages actives ]</a:t>
            </a:r>
          </a:p>
          <a:p>
            <a:r>
              <a:rPr lang="en-US" dirty="0" smtClean="0"/>
              <a:t>Depot GITHUB</a:t>
            </a:r>
          </a:p>
          <a:p>
            <a:r>
              <a:rPr lang="en-US" dirty="0" smtClean="0"/>
              <a:t>Site </a:t>
            </a:r>
            <a:r>
              <a:rPr lang="en-US" dirty="0" err="1" smtClean="0"/>
              <a:t>en</a:t>
            </a:r>
            <a:r>
              <a:rPr lang="en-US" dirty="0" smtClean="0"/>
              <a:t> </a:t>
            </a:r>
            <a:r>
              <a:rPr lang="en-US" dirty="0" err="1" smtClean="0"/>
              <a:t>ligne</a:t>
            </a:r>
            <a:r>
              <a:rPr lang="en-US" dirty="0"/>
              <a:t> :https://mouhamed5375.github.io/FALL-MOUHAMED-</a:t>
            </a:r>
            <a:r>
              <a:rPr lang="en-US" dirty="0" err="1"/>
              <a:t>AfriTalent</a:t>
            </a:r>
            <a:r>
              <a:rPr lang="en-US" dirty="0"/>
              <a:t>/</a:t>
            </a:r>
            <a:endParaRPr lang="fr-FR" dirty="0"/>
          </a:p>
        </p:txBody>
      </p:sp>
      <p:pic>
        <p:nvPicPr>
          <p:cNvPr id="4" name="Imag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49540" y="2434590"/>
            <a:ext cx="2119802" cy="1512146"/>
          </a:xfrm>
          <a:prstGeom prst="rect">
            <a:avLst/>
          </a:prstGeom>
        </p:spPr>
      </p:pic>
    </p:spTree>
    <p:extLst>
      <p:ext uri="{BB962C8B-B14F-4D97-AF65-F5344CB8AC3E}">
        <p14:creationId xmlns:p14="http://schemas.microsoft.com/office/powerpoint/2010/main" val="362737473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sz="6000" b="1" i="1" dirty="0">
                <a:latin typeface="Algerian" panose="04020705040A02060702" pitchFamily="82" charset="0"/>
              </a:rPr>
              <a:t>Difficultés rencontrées et solutions </a:t>
            </a:r>
            <a:r>
              <a:rPr lang="fr-FR" dirty="0"/>
              <a:t>(minimum 2)</a:t>
            </a:r>
          </a:p>
        </p:txBody>
      </p:sp>
      <p:sp>
        <p:nvSpPr>
          <p:cNvPr id="3" name="Espace réservé du contenu 2"/>
          <p:cNvSpPr>
            <a:spLocks noGrp="1"/>
          </p:cNvSpPr>
          <p:nvPr>
            <p:ph idx="1"/>
          </p:nvPr>
        </p:nvSpPr>
        <p:spPr>
          <a:xfrm>
            <a:off x="1169671" y="2648372"/>
            <a:ext cx="9601196" cy="3318936"/>
          </a:xfrm>
        </p:spPr>
        <p:txBody>
          <a:bodyPr/>
          <a:lstStyle/>
          <a:p>
            <a:r>
              <a:rPr lang="fr-FR" dirty="0" smtClean="0"/>
              <a:t>J’ai</a:t>
            </a:r>
            <a:r>
              <a:rPr lang="en-US" dirty="0" smtClean="0"/>
              <a:t> rencontre </a:t>
            </a:r>
            <a:r>
              <a:rPr lang="fr-FR" dirty="0" smtClean="0"/>
              <a:t>d’énorme</a:t>
            </a:r>
            <a:r>
              <a:rPr lang="en-US" dirty="0" smtClean="0"/>
              <a:t> </a:t>
            </a:r>
            <a:r>
              <a:rPr lang="fr-FR" dirty="0" smtClean="0"/>
              <a:t>difficulté</a:t>
            </a:r>
            <a:r>
              <a:rPr lang="en-US" dirty="0" smtClean="0"/>
              <a:t> tout au long </a:t>
            </a:r>
            <a:r>
              <a:rPr lang="en-US" dirty="0" err="1" smtClean="0"/>
              <a:t>parcour</a:t>
            </a:r>
            <a:r>
              <a:rPr lang="en-US" dirty="0" smtClean="0"/>
              <a:t> du </a:t>
            </a:r>
            <a:r>
              <a:rPr lang="fr-FR" dirty="0" smtClean="0"/>
              <a:t>projet</a:t>
            </a:r>
            <a:r>
              <a:rPr lang="en-US" dirty="0" smtClean="0"/>
              <a:t> . </a:t>
            </a:r>
            <a:r>
              <a:rPr lang="en-US" dirty="0" err="1" smtClean="0"/>
              <a:t>Parfois</a:t>
            </a:r>
            <a:r>
              <a:rPr lang="en-US" dirty="0" smtClean="0"/>
              <a:t> meme </a:t>
            </a:r>
            <a:r>
              <a:rPr lang="en-US" dirty="0" err="1" smtClean="0"/>
              <a:t>j’ai</a:t>
            </a:r>
            <a:r>
              <a:rPr lang="en-US" dirty="0" smtClean="0"/>
              <a:t> meme </a:t>
            </a:r>
            <a:r>
              <a:rPr lang="en-US" dirty="0" err="1" smtClean="0"/>
              <a:t>pense</a:t>
            </a:r>
            <a:r>
              <a:rPr lang="en-US" dirty="0" smtClean="0"/>
              <a:t> a abandoner, car </a:t>
            </a:r>
            <a:r>
              <a:rPr lang="en-US" dirty="0" err="1" smtClean="0"/>
              <a:t>ce</a:t>
            </a:r>
            <a:r>
              <a:rPr lang="en-US" dirty="0" smtClean="0"/>
              <a:t> </a:t>
            </a:r>
            <a:r>
              <a:rPr lang="en-US" dirty="0" err="1" smtClean="0"/>
              <a:t>projet</a:t>
            </a:r>
            <a:r>
              <a:rPr lang="en-US" dirty="0" smtClean="0"/>
              <a:t> </a:t>
            </a:r>
            <a:r>
              <a:rPr lang="en-US" dirty="0" err="1" smtClean="0"/>
              <a:t>est</a:t>
            </a:r>
            <a:r>
              <a:rPr lang="en-US" dirty="0" smtClean="0"/>
              <a:t> d’un tout </a:t>
            </a:r>
            <a:r>
              <a:rPr lang="en-US" dirty="0" err="1" smtClean="0"/>
              <a:t>autre</a:t>
            </a:r>
            <a:r>
              <a:rPr lang="en-US" dirty="0" smtClean="0"/>
              <a:t> </a:t>
            </a:r>
            <a:r>
              <a:rPr lang="en-US" dirty="0" err="1" smtClean="0"/>
              <a:t>niveau</a:t>
            </a:r>
            <a:r>
              <a:rPr lang="en-US" dirty="0" smtClean="0"/>
              <a:t> </a:t>
            </a:r>
          </a:p>
          <a:p>
            <a:r>
              <a:rPr lang="en-US" dirty="0" err="1" smtClean="0"/>
              <a:t>Lors</a:t>
            </a:r>
            <a:r>
              <a:rPr lang="en-US" dirty="0" smtClean="0"/>
              <a:t> du commit 2 </a:t>
            </a:r>
            <a:r>
              <a:rPr lang="en-US" dirty="0" err="1" smtClean="0"/>
              <a:t>j’avais</a:t>
            </a:r>
            <a:r>
              <a:rPr lang="en-US" dirty="0" smtClean="0"/>
              <a:t> mal </a:t>
            </a:r>
            <a:r>
              <a:rPr lang="en-US" dirty="0" err="1" smtClean="0"/>
              <a:t>compris</a:t>
            </a:r>
            <a:r>
              <a:rPr lang="en-US" dirty="0" smtClean="0"/>
              <a:t> les </a:t>
            </a:r>
            <a:r>
              <a:rPr lang="en-US" dirty="0" err="1" smtClean="0"/>
              <a:t>consignes</a:t>
            </a:r>
            <a:r>
              <a:rPr lang="en-US" dirty="0" smtClean="0"/>
              <a:t> et </a:t>
            </a:r>
            <a:r>
              <a:rPr lang="en-US" dirty="0" err="1" smtClean="0"/>
              <a:t>j’ai</a:t>
            </a:r>
            <a:r>
              <a:rPr lang="en-US" dirty="0" smtClean="0"/>
              <a:t> </a:t>
            </a:r>
            <a:r>
              <a:rPr lang="en-US" dirty="0" err="1" smtClean="0"/>
              <a:t>consacre</a:t>
            </a:r>
            <a:r>
              <a:rPr lang="en-US" dirty="0" smtClean="0"/>
              <a:t> beaucoup de temps . Avec le </a:t>
            </a:r>
            <a:r>
              <a:rPr lang="en-US" dirty="0" err="1" smtClean="0"/>
              <a:t>javascript</a:t>
            </a:r>
            <a:r>
              <a:rPr lang="en-US" dirty="0" smtClean="0"/>
              <a:t>, </a:t>
            </a:r>
            <a:r>
              <a:rPr lang="en-US" dirty="0" err="1" smtClean="0"/>
              <a:t>j’ai</a:t>
            </a:r>
            <a:r>
              <a:rPr lang="en-US" dirty="0" smtClean="0"/>
              <a:t> </a:t>
            </a:r>
            <a:r>
              <a:rPr lang="en-US" dirty="0" err="1" smtClean="0"/>
              <a:t>reellement</a:t>
            </a:r>
            <a:r>
              <a:rPr lang="en-US" dirty="0" smtClean="0"/>
              <a:t> </a:t>
            </a:r>
            <a:r>
              <a:rPr lang="en-US" dirty="0" err="1" smtClean="0"/>
              <a:t>compris</a:t>
            </a:r>
            <a:r>
              <a:rPr lang="en-US" dirty="0" smtClean="0"/>
              <a:t> le </a:t>
            </a:r>
            <a:r>
              <a:rPr lang="en-US" dirty="0" err="1" smtClean="0"/>
              <a:t>sens</a:t>
            </a:r>
            <a:r>
              <a:rPr lang="en-US" dirty="0" smtClean="0"/>
              <a:t> du mots “bugs”</a:t>
            </a:r>
          </a:p>
          <a:p>
            <a:r>
              <a:rPr lang="en-US" dirty="0" err="1" smtClean="0"/>
              <a:t>J’ai</a:t>
            </a:r>
            <a:r>
              <a:rPr lang="en-US" dirty="0" smtClean="0"/>
              <a:t> </a:t>
            </a:r>
            <a:r>
              <a:rPr lang="en-US" dirty="0" err="1" smtClean="0"/>
              <a:t>enormement</a:t>
            </a:r>
            <a:r>
              <a:rPr lang="en-US" dirty="0" smtClean="0"/>
              <a:t> </a:t>
            </a:r>
            <a:r>
              <a:rPr lang="en-US" dirty="0" err="1" smtClean="0"/>
              <a:t>galere</a:t>
            </a:r>
            <a:r>
              <a:rPr lang="en-US" dirty="0" smtClean="0"/>
              <a:t> sur </a:t>
            </a:r>
            <a:r>
              <a:rPr lang="en-US" dirty="0" err="1" smtClean="0"/>
              <a:t>plusieur</a:t>
            </a:r>
            <a:r>
              <a:rPr lang="en-US" dirty="0" smtClean="0"/>
              <a:t> </a:t>
            </a:r>
            <a:r>
              <a:rPr lang="en-US" dirty="0" err="1" smtClean="0"/>
              <a:t>problemes</a:t>
            </a:r>
            <a:r>
              <a:rPr lang="en-US" dirty="0" smtClean="0"/>
              <a:t> techniques. </a:t>
            </a:r>
            <a:r>
              <a:rPr lang="en-US" dirty="0" smtClean="0"/>
              <a:t>Et pour </a:t>
            </a:r>
            <a:r>
              <a:rPr lang="en-US" dirty="0" err="1" smtClean="0"/>
              <a:t>finr</a:t>
            </a:r>
            <a:r>
              <a:rPr lang="en-US" dirty="0" smtClean="0"/>
              <a:t> le </a:t>
            </a:r>
            <a:r>
              <a:rPr lang="en-US" dirty="0" err="1" smtClean="0"/>
              <a:t>deployement</a:t>
            </a:r>
            <a:r>
              <a:rPr lang="en-US" dirty="0" smtClean="0"/>
              <a:t> du site. A </a:t>
            </a:r>
            <a:r>
              <a:rPr lang="en-US" dirty="0" err="1" smtClean="0"/>
              <a:t>chaque</a:t>
            </a:r>
            <a:r>
              <a:rPr lang="en-US" dirty="0" smtClean="0"/>
              <a:t> </a:t>
            </a:r>
            <a:r>
              <a:rPr lang="en-US" dirty="0" err="1" smtClean="0"/>
              <a:t>fois</a:t>
            </a:r>
            <a:r>
              <a:rPr lang="en-US" dirty="0" smtClean="0"/>
              <a:t> que je </a:t>
            </a:r>
            <a:r>
              <a:rPr lang="en-US" dirty="0" err="1" smtClean="0"/>
              <a:t>deploie</a:t>
            </a:r>
            <a:r>
              <a:rPr lang="en-US" dirty="0" smtClean="0"/>
              <a:t> le site </a:t>
            </a:r>
            <a:r>
              <a:rPr lang="en-US" dirty="0" err="1" smtClean="0"/>
              <a:t>pluisieur</a:t>
            </a:r>
            <a:r>
              <a:rPr lang="en-US" dirty="0" smtClean="0"/>
              <a:t> </a:t>
            </a:r>
            <a:r>
              <a:rPr lang="en-US" dirty="0" err="1" smtClean="0"/>
              <a:t>fonctionnalite</a:t>
            </a:r>
            <a:r>
              <a:rPr lang="en-US" dirty="0" smtClean="0"/>
              <a:t> </a:t>
            </a:r>
            <a:r>
              <a:rPr lang="en-US" dirty="0" err="1" smtClean="0"/>
              <a:t>cessent</a:t>
            </a:r>
            <a:r>
              <a:rPr lang="en-US" dirty="0" smtClean="0"/>
              <a:t> de </a:t>
            </a:r>
            <a:r>
              <a:rPr lang="en-US" dirty="0" err="1" smtClean="0"/>
              <a:t>fonctionner</a:t>
            </a:r>
            <a:r>
              <a:rPr lang="en-US" dirty="0" smtClean="0"/>
              <a:t> </a:t>
            </a:r>
            <a:r>
              <a:rPr lang="en-US" dirty="0" err="1" smtClean="0"/>
              <a:t>alors</a:t>
            </a:r>
            <a:r>
              <a:rPr lang="en-US" dirty="0" smtClean="0"/>
              <a:t> </a:t>
            </a:r>
            <a:r>
              <a:rPr lang="en-US" dirty="0" err="1" smtClean="0"/>
              <a:t>qu’elles</a:t>
            </a:r>
            <a:r>
              <a:rPr lang="en-US" dirty="0" smtClean="0"/>
              <a:t> </a:t>
            </a:r>
            <a:r>
              <a:rPr lang="en-US" dirty="0" err="1" smtClean="0"/>
              <a:t>marchent</a:t>
            </a:r>
            <a:r>
              <a:rPr lang="en-US" dirty="0" smtClean="0"/>
              <a:t> </a:t>
            </a:r>
            <a:r>
              <a:rPr lang="en-US" dirty="0" err="1" smtClean="0"/>
              <a:t>parfaitement</a:t>
            </a:r>
            <a:r>
              <a:rPr lang="en-US" dirty="0" smtClean="0"/>
              <a:t> </a:t>
            </a:r>
            <a:r>
              <a:rPr lang="en-US" dirty="0" err="1" smtClean="0"/>
              <a:t>en</a:t>
            </a:r>
            <a:r>
              <a:rPr lang="en-US" dirty="0" smtClean="0"/>
              <a:t> local </a:t>
            </a:r>
            <a:endParaRPr lang="fr-FR" dirty="0"/>
          </a:p>
        </p:txBody>
      </p:sp>
    </p:spTree>
    <p:extLst>
      <p:ext uri="{BB962C8B-B14F-4D97-AF65-F5344CB8AC3E}">
        <p14:creationId xmlns:p14="http://schemas.microsoft.com/office/powerpoint/2010/main" val="306267874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b="1" i="1" dirty="0">
                <a:latin typeface="Algerian" panose="04020705040A02060702" pitchFamily="82" charset="0"/>
              </a:rPr>
              <a:t>Ressources et documentation utilisées</a:t>
            </a:r>
          </a:p>
        </p:txBody>
      </p:sp>
      <p:sp>
        <p:nvSpPr>
          <p:cNvPr id="3" name="Espace réservé du contenu 2"/>
          <p:cNvSpPr>
            <a:spLocks noGrp="1"/>
          </p:cNvSpPr>
          <p:nvPr>
            <p:ph idx="1"/>
          </p:nvPr>
        </p:nvSpPr>
        <p:spPr/>
        <p:txBody>
          <a:bodyPr/>
          <a:lstStyle/>
          <a:p>
            <a:r>
              <a:rPr lang="en-US" dirty="0" smtClean="0"/>
              <a:t>DOCUMENTATION </a:t>
            </a:r>
            <a:r>
              <a:rPr lang="en-US" dirty="0" smtClean="0"/>
              <a:t>(MDN </a:t>
            </a:r>
            <a:r>
              <a:rPr lang="en-US" dirty="0"/>
              <a:t>Web Docs, Bootstrap 5 Docs , Font Awesome, W3Schools)</a:t>
            </a:r>
            <a:endParaRPr lang="en-US" dirty="0" smtClean="0"/>
          </a:p>
          <a:p>
            <a:r>
              <a:rPr lang="en-US" dirty="0" smtClean="0"/>
              <a:t>OUTILS</a:t>
            </a:r>
            <a:r>
              <a:rPr lang="en-US" dirty="0" smtClean="0"/>
              <a:t>( v</a:t>
            </a:r>
            <a:r>
              <a:rPr lang="fr-FR" dirty="0" err="1"/>
              <a:t>Bootstrap</a:t>
            </a:r>
            <a:r>
              <a:rPr lang="fr-FR" dirty="0"/>
              <a:t> 5, JavaScript </a:t>
            </a:r>
            <a:r>
              <a:rPr lang="fr-FR" dirty="0" err="1" smtClean="0"/>
              <a:t>Vanilla</a:t>
            </a:r>
            <a:r>
              <a:rPr lang="fr-FR" dirty="0" smtClean="0"/>
              <a:t> </a:t>
            </a:r>
            <a:r>
              <a:rPr lang="fr-FR" dirty="0"/>
              <a:t>JS, </a:t>
            </a:r>
            <a:r>
              <a:rPr lang="fr-FR" dirty="0" err="1" smtClean="0"/>
              <a:t>GitHub,VScode</a:t>
            </a:r>
            <a:r>
              <a:rPr lang="en-US" dirty="0" smtClean="0"/>
              <a:t>)</a:t>
            </a:r>
            <a:endParaRPr lang="fr-FR" dirty="0"/>
          </a:p>
        </p:txBody>
      </p:sp>
    </p:spTree>
    <p:extLst>
      <p:ext uri="{BB962C8B-B14F-4D97-AF65-F5344CB8AC3E}">
        <p14:creationId xmlns:p14="http://schemas.microsoft.com/office/powerpoint/2010/main" val="9004684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Démonstration live du site</a:t>
            </a:r>
          </a:p>
        </p:txBody>
      </p:sp>
      <p:sp>
        <p:nvSpPr>
          <p:cNvPr id="3" name="Espace réservé du contenu 2"/>
          <p:cNvSpPr>
            <a:spLocks noGrp="1"/>
          </p:cNvSpPr>
          <p:nvPr>
            <p:ph idx="1"/>
          </p:nvPr>
        </p:nvSpPr>
        <p:spPr>
          <a:xfrm>
            <a:off x="1295400" y="2556932"/>
            <a:ext cx="9803129" cy="3455248"/>
          </a:xfrm>
        </p:spPr>
        <p:txBody>
          <a:bodyPr>
            <a:normAutofit fontScale="92500"/>
          </a:bodyPr>
          <a:lstStyle/>
          <a:p>
            <a:r>
              <a:rPr lang="en-US" dirty="0" err="1" smtClean="0"/>
              <a:t>Fonctionnalites</a:t>
            </a:r>
            <a:r>
              <a:rPr lang="en-US" dirty="0" smtClean="0"/>
              <a:t> a </a:t>
            </a:r>
            <a:r>
              <a:rPr lang="en-US" dirty="0" smtClean="0"/>
              <a:t>presenter</a:t>
            </a:r>
          </a:p>
          <a:p>
            <a:r>
              <a:rPr lang="fr-FR" dirty="0"/>
              <a:t>La </a:t>
            </a:r>
            <a:r>
              <a:rPr lang="fr-FR" dirty="0" err="1" smtClean="0"/>
              <a:t>Homepage</a:t>
            </a:r>
            <a:r>
              <a:rPr lang="fr-FR" dirty="0" smtClean="0"/>
              <a:t>(Présentez </a:t>
            </a:r>
            <a:r>
              <a:rPr lang="fr-FR" dirty="0"/>
              <a:t>l'identité visuelle moderne (thème sombre technique, logo centré sur le monde de la </a:t>
            </a:r>
            <a:r>
              <a:rPr lang="fr-FR" dirty="0" err="1"/>
              <a:t>tech</a:t>
            </a:r>
            <a:r>
              <a:rPr lang="fr-FR" dirty="0"/>
              <a:t>) Montrez la fluidité de la navigation grâce à la </a:t>
            </a:r>
            <a:r>
              <a:rPr lang="fr-FR" b="1" dirty="0" err="1"/>
              <a:t>navbar</a:t>
            </a:r>
            <a:r>
              <a:rPr lang="fr-FR" b="1" dirty="0"/>
              <a:t> dynamique</a:t>
            </a:r>
            <a:r>
              <a:rPr lang="fr-FR" dirty="0"/>
              <a:t> qui réagit instantanément au scroll</a:t>
            </a:r>
            <a:r>
              <a:rPr lang="fr-FR" dirty="0" smtClean="0"/>
              <a:t>.</a:t>
            </a:r>
          </a:p>
          <a:p>
            <a:r>
              <a:rPr lang="fr-FR" dirty="0"/>
              <a:t>L'Expérience Utilisateur (Le Mode Sombre</a:t>
            </a:r>
            <a:r>
              <a:rPr lang="fr-FR" dirty="0" smtClean="0"/>
              <a:t>)(L'Expérience </a:t>
            </a:r>
            <a:r>
              <a:rPr lang="fr-FR" dirty="0"/>
              <a:t>Utilisateur (Le Mode Sombre) Expliquez brièvement que ce choix est persistant (grâce au </a:t>
            </a:r>
            <a:r>
              <a:rPr lang="fr-FR" i="1" dirty="0" err="1"/>
              <a:t>LocalStorage</a:t>
            </a:r>
            <a:r>
              <a:rPr lang="fr-FR" dirty="0"/>
              <a:t>), offrant un confort visuel optimal à l'utilisateur lors de ses prochaines visites</a:t>
            </a:r>
            <a:r>
              <a:rPr lang="fr-FR" dirty="0" smtClean="0"/>
              <a:t>.</a:t>
            </a:r>
          </a:p>
          <a:p>
            <a:r>
              <a:rPr lang="fr-FR" dirty="0"/>
              <a:t>L'Exploration (Le Catalogue &amp; Structure Bento</a:t>
            </a:r>
            <a:r>
              <a:rPr lang="fr-FR" dirty="0" smtClean="0"/>
              <a:t>)</a:t>
            </a:r>
            <a:endParaRPr lang="en-US" dirty="0" smtClean="0"/>
          </a:p>
          <a:p>
            <a:pPr marL="0" indent="0">
              <a:buNone/>
            </a:pPr>
            <a:endParaRPr lang="en-US" dirty="0" smtClean="0"/>
          </a:p>
        </p:txBody>
      </p:sp>
      <p:sp>
        <p:nvSpPr>
          <p:cNvPr id="4" name="Rectangle 1"/>
          <p:cNvSpPr>
            <a:spLocks noChangeArrowheads="1"/>
          </p:cNvSpPr>
          <p:nvPr/>
        </p:nvSpPr>
        <p:spPr bwMode="auto">
          <a:xfrm>
            <a:off x="-1" y="-300307"/>
            <a:ext cx="1244842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smtClean="0">
                <a:ln>
                  <a:noFill/>
                </a:ln>
                <a:solidFill>
                  <a:schemeClr val="tx1"/>
                </a:solidFill>
                <a:effectLst/>
                <a:latin typeface="Arial" panose="020B0604020202020204" pitchFamily="34" charset="0"/>
              </a:rPr>
              <a:t>Mettez en valeur la mise en page asymétrique en </a:t>
            </a:r>
            <a:r>
              <a:rPr kumimoji="0" lang="fr-FR" altLang="fr-FR" sz="1800" b="1" i="0" u="none" strike="noStrike" cap="none" normalizeH="0" baseline="0" smtClean="0">
                <a:ln>
                  <a:noFill/>
                </a:ln>
                <a:solidFill>
                  <a:schemeClr val="tx1"/>
                </a:solidFill>
                <a:effectLst/>
                <a:latin typeface="Arial" panose="020B0604020202020204" pitchFamily="34" charset="0"/>
              </a:rPr>
              <a:t>Bento Grid</a:t>
            </a:r>
            <a:r>
              <a:rPr kumimoji="0" lang="fr-FR" altLang="fr-FR" sz="1800" b="0" i="0" u="none" strike="noStrike" cap="none" normalizeH="0" baseline="0" smtClean="0">
                <a:ln>
                  <a:noFill/>
                </a:ln>
                <a:solidFill>
                  <a:schemeClr val="tx1"/>
                </a:solidFill>
                <a:effectLst/>
                <a:latin typeface="Arial" panose="020B0604020202020204" pitchFamily="34" charset="0"/>
              </a:rPr>
              <a:t>. Montrez comment les cartes interactives s'animent au survol (</a:t>
            </a:r>
            <a:r>
              <a:rPr kumimoji="0" lang="fr-FR" altLang="fr-FR" sz="1000" b="0" i="0" u="none" strike="noStrike" cap="none" normalizeH="0" baseline="0" smtClean="0">
                <a:ln>
                  <a:noFill/>
                </a:ln>
                <a:solidFill>
                  <a:schemeClr val="tx1"/>
                </a:solidFill>
                <a:effectLst/>
                <a:latin typeface="Arial Unicode MS"/>
              </a:rPr>
              <a:t>hover</a:t>
            </a:r>
            <a:r>
              <a:rPr kumimoji="0" lang="fr-FR" altLang="fr-FR" sz="900" b="0" i="0" u="none" strike="noStrike" cap="none" normalizeH="0" baseline="0" smtClean="0">
                <a:ln>
                  <a:noFill/>
                </a:ln>
                <a:solidFill>
                  <a:schemeClr val="tx1"/>
                </a:solidFill>
                <a:effectLst/>
              </a:rPr>
              <a:t>) pour capturer l'attention. </a:t>
            </a: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5" name="Rectangle 2"/>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smtClean="0">
                <a:ln>
                  <a:noFill/>
                </a:ln>
                <a:solidFill>
                  <a:schemeClr val="tx1"/>
                </a:solidFill>
                <a:effectLst/>
                <a:latin typeface="Arial" panose="020B0604020202020204" pitchFamily="34" charset="0"/>
              </a:rPr>
              <a:t>Mettez en valeur la mise en page asymétrique en </a:t>
            </a:r>
            <a:r>
              <a:rPr kumimoji="0" lang="fr-FR" altLang="fr-FR" sz="1800" b="1" i="0" u="none" strike="noStrike" cap="none" normalizeH="0" baseline="0" smtClean="0">
                <a:ln>
                  <a:noFill/>
                </a:ln>
                <a:solidFill>
                  <a:schemeClr val="tx1"/>
                </a:solidFill>
                <a:effectLst/>
                <a:latin typeface="Arial" panose="020B0604020202020204" pitchFamily="34" charset="0"/>
              </a:rPr>
              <a:t>Bento Grid</a:t>
            </a:r>
            <a:r>
              <a:rPr kumimoji="0" lang="fr-FR" altLang="fr-FR" sz="1800" b="0" i="0" u="none" strike="noStrike" cap="none" normalizeH="0" baseline="0" smtClean="0">
                <a:ln>
                  <a:noFill/>
                </a:ln>
                <a:solidFill>
                  <a:schemeClr val="tx1"/>
                </a:solidFill>
                <a:effectLst/>
                <a:latin typeface="Arial" panose="020B0604020202020204" pitchFamily="34" charset="0"/>
              </a:rPr>
              <a:t>. Montrez comment les cartes interactives s'animent au survol (</a:t>
            </a:r>
            <a:r>
              <a:rPr kumimoji="0" lang="fr-FR" altLang="fr-FR" sz="1000" b="0" i="0" u="none" strike="noStrike" cap="none" normalizeH="0" baseline="0" smtClean="0">
                <a:ln>
                  <a:noFill/>
                </a:ln>
                <a:solidFill>
                  <a:schemeClr val="tx1"/>
                </a:solidFill>
                <a:effectLst/>
                <a:latin typeface="Arial Unicode MS"/>
              </a:rPr>
              <a:t>hover</a:t>
            </a:r>
            <a:r>
              <a:rPr kumimoji="0" lang="fr-FR" altLang="fr-FR" sz="900" b="0" i="0" u="none" strike="noStrike" cap="none" normalizeH="0" baseline="0" smtClean="0">
                <a:ln>
                  <a:noFill/>
                </a:ln>
                <a:solidFill>
                  <a:schemeClr val="tx1"/>
                </a:solidFill>
                <a:effectLst/>
              </a:rPr>
              <a:t>) pour capturer l'attention. </a:t>
            </a: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2926926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a:latin typeface="Algerian" panose="04020705040A02060702" pitchFamily="82" charset="0"/>
              </a:rPr>
              <a:t>Conclusion et perspectives d'amélioration</a:t>
            </a:r>
          </a:p>
        </p:txBody>
      </p:sp>
      <p:sp>
        <p:nvSpPr>
          <p:cNvPr id="3" name="Espace réservé du contenu 2"/>
          <p:cNvSpPr>
            <a:spLocks noGrp="1"/>
          </p:cNvSpPr>
          <p:nvPr>
            <p:ph idx="1"/>
          </p:nvPr>
        </p:nvSpPr>
        <p:spPr/>
        <p:txBody>
          <a:bodyPr/>
          <a:lstStyle/>
          <a:p>
            <a:r>
              <a:rPr lang="fr-FR" dirty="0"/>
              <a:t>La Conclusion (Le Bilan du Projet</a:t>
            </a:r>
            <a:r>
              <a:rPr lang="fr-FR" dirty="0" smtClean="0"/>
              <a:t>)</a:t>
            </a:r>
          </a:p>
          <a:p>
            <a:r>
              <a:rPr lang="fr-FR" dirty="0"/>
              <a:t>Les Perspectives d'Amélioration (La Vision d'Avenir</a:t>
            </a:r>
            <a:r>
              <a:rPr lang="fr-FR" dirty="0" smtClean="0"/>
              <a:t>)</a:t>
            </a:r>
          </a:p>
          <a:p>
            <a:r>
              <a:rPr lang="fr-FR" dirty="0"/>
              <a:t>Nouvelles Fonctionnalités (Back-End &amp; Expérience Utilisateur)</a:t>
            </a:r>
            <a:endParaRPr lang="fr-FR" dirty="0"/>
          </a:p>
        </p:txBody>
      </p:sp>
    </p:spTree>
    <p:extLst>
      <p:ext uri="{BB962C8B-B14F-4D97-AF65-F5344CB8AC3E}">
        <p14:creationId xmlns:p14="http://schemas.microsoft.com/office/powerpoint/2010/main" val="387159038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68680" y="914400"/>
            <a:ext cx="10538460" cy="4801314"/>
          </a:xfrm>
          <a:prstGeom prst="rect">
            <a:avLst/>
          </a:prstGeom>
        </p:spPr>
        <p:txBody>
          <a:bodyPr wrap="square">
            <a:spAutoFit/>
          </a:bodyPr>
          <a:lstStyle/>
          <a:p>
            <a:r>
              <a:rPr lang="fr-FR" dirty="0"/>
              <a:t>La Conclusion (Le Bilan du Projet)C'est le moment de rappeler le succès de la phase initiale de </a:t>
            </a:r>
            <a:r>
              <a:rPr lang="fr-FR" dirty="0" err="1"/>
              <a:t>développement.Compétences</a:t>
            </a:r>
            <a:r>
              <a:rPr lang="fr-FR" dirty="0"/>
              <a:t> validées : Maîtrise des technologies front-end modernes (intégration complète de </a:t>
            </a:r>
            <a:r>
              <a:rPr lang="fr-FR" dirty="0" err="1"/>
              <a:t>Bootstrap</a:t>
            </a:r>
            <a:r>
              <a:rPr lang="fr-FR" dirty="0"/>
              <a:t> 5, création de </a:t>
            </a:r>
            <a:r>
              <a:rPr lang="fr-FR" dirty="0" err="1"/>
              <a:t>layouts</a:t>
            </a:r>
            <a:r>
              <a:rPr lang="fr-FR" dirty="0"/>
              <a:t> asymétriques en CSS </a:t>
            </a:r>
            <a:r>
              <a:rPr lang="fr-FR" dirty="0" err="1"/>
              <a:t>Grid</a:t>
            </a:r>
            <a:r>
              <a:rPr lang="fr-FR" dirty="0"/>
              <a:t> / Bento </a:t>
            </a:r>
            <a:r>
              <a:rPr lang="fr-FR" dirty="0" err="1"/>
              <a:t>Layout</a:t>
            </a:r>
            <a:r>
              <a:rPr lang="fr-FR" dirty="0"/>
              <a:t>, et développement de fonctionnalités dynamiques en JavaScript).Objectif atteint : Création d'une interface utilisateur (UI) soignée, respectant les standards de design actuels (thème sombre technique, </a:t>
            </a:r>
            <a:r>
              <a:rPr lang="fr-FR" dirty="0" err="1"/>
              <a:t>glassmorphism</a:t>
            </a:r>
            <a:r>
              <a:rPr lang="fr-FR" dirty="0"/>
              <a:t>), entièrement responsive et déployée de manière fonctionnelle sur GitHub Pages.2. Les Perspectives d'Amélioration (La Vision d'Avenir)Montrez au jury que vous pensez comme un vrai développeur en proposant des évolutions logiques pour transformer ce site vitrine en une application web complète (</a:t>
            </a:r>
            <a:r>
              <a:rPr lang="fr-FR" dirty="0" err="1"/>
              <a:t>SaaS</a:t>
            </a:r>
            <a:r>
              <a:rPr lang="fr-FR" dirty="0"/>
              <a:t> / Marketplace).🛠️ Améliorations Techniques (Front-End &amp; Performance)Transition vers un </a:t>
            </a:r>
            <a:r>
              <a:rPr lang="fr-FR" dirty="0" err="1"/>
              <a:t>framework</a:t>
            </a:r>
            <a:r>
              <a:rPr lang="fr-FR" dirty="0"/>
              <a:t> moderne : Migrer le code HTML/JS classique vers </a:t>
            </a:r>
            <a:r>
              <a:rPr lang="fr-FR" dirty="0" err="1"/>
              <a:t>React</a:t>
            </a:r>
            <a:r>
              <a:rPr lang="fr-FR" dirty="0"/>
              <a:t> ou Vue.js pour créer une application à page unique (SPA) plus robuste et </a:t>
            </a:r>
            <a:r>
              <a:rPr lang="fr-FR" dirty="0" err="1"/>
              <a:t>modulaire.Optimisation</a:t>
            </a:r>
            <a:r>
              <a:rPr lang="fr-FR" dirty="0"/>
              <a:t> avancée (SEO &amp; Vitesse) : Compresser les images au format .</a:t>
            </a:r>
            <a:r>
              <a:rPr lang="fr-FR" dirty="0" err="1"/>
              <a:t>webp</a:t>
            </a:r>
            <a:r>
              <a:rPr lang="fr-FR" dirty="0"/>
              <a:t> pour améliorer les temps de chargement et peaufiner les balises </a:t>
            </a:r>
            <a:r>
              <a:rPr lang="fr-FR" dirty="0" err="1"/>
              <a:t>meta</a:t>
            </a:r>
            <a:r>
              <a:rPr lang="fr-FR" dirty="0"/>
              <a:t> pour le référencement.💼 Nouvelles Fonctionnalités (Back-End &amp; Expérience Utilisateur)Système d'authentification : Intégrer un </a:t>
            </a:r>
            <a:r>
              <a:rPr lang="fr-FR" dirty="0" err="1"/>
              <a:t>backend</a:t>
            </a:r>
            <a:r>
              <a:rPr lang="fr-FR" dirty="0"/>
              <a:t> (Node.js, </a:t>
            </a:r>
            <a:r>
              <a:rPr lang="fr-FR" dirty="0" err="1"/>
              <a:t>Firebase</a:t>
            </a:r>
            <a:r>
              <a:rPr lang="fr-FR" dirty="0"/>
              <a:t> ou </a:t>
            </a:r>
            <a:r>
              <a:rPr lang="fr-FR" dirty="0" err="1"/>
              <a:t>Supabase</a:t>
            </a:r>
            <a:r>
              <a:rPr lang="fr-FR" dirty="0"/>
              <a:t>) pour permettre aux freelances de s'inscrire, de créer et de modifier eux-mêmes leur </a:t>
            </a:r>
            <a:r>
              <a:rPr lang="fr-FR" dirty="0" err="1"/>
              <a:t>profil.Barre</a:t>
            </a:r>
            <a:r>
              <a:rPr lang="fr-FR" dirty="0"/>
              <a:t> de recherche dynamique &amp; Filtres réels : Connecter une base de données (comme PostgreSQL ou </a:t>
            </a:r>
            <a:r>
              <a:rPr lang="fr-FR" dirty="0" err="1"/>
              <a:t>MongoDB</a:t>
            </a:r>
            <a:r>
              <a:rPr lang="fr-FR" dirty="0"/>
              <a:t>) pour que la recherche par compétences, tarifs ou pays s'exécute instantanément côté </a:t>
            </a:r>
            <a:r>
              <a:rPr lang="fr-FR" dirty="0" err="1"/>
              <a:t>serveur.Messagerie</a:t>
            </a:r>
            <a:r>
              <a:rPr lang="fr-FR" dirty="0"/>
              <a:t> interne et Paiement sécurisé : Planifier l'intégration de l'API </a:t>
            </a:r>
            <a:r>
              <a:rPr lang="fr-FR" dirty="0" err="1"/>
              <a:t>Stripe</a:t>
            </a:r>
            <a:r>
              <a:rPr lang="fr-FR" dirty="0"/>
              <a:t> pour sécuriser les transactions entre les entreprises et les talents, et ajouter un chat en temps réel (</a:t>
            </a:r>
            <a:r>
              <a:rPr lang="fr-FR" dirty="0" err="1"/>
              <a:t>WebSockets</a:t>
            </a:r>
            <a:r>
              <a:rPr lang="fr-FR" dirty="0"/>
              <a:t>).</a:t>
            </a:r>
          </a:p>
        </p:txBody>
      </p:sp>
    </p:spTree>
    <p:extLst>
      <p:ext uri="{BB962C8B-B14F-4D97-AF65-F5344CB8AC3E}">
        <p14:creationId xmlns:p14="http://schemas.microsoft.com/office/powerpoint/2010/main" val="96030501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med" p14:dur="700">
        <p15:prstTrans prst="origami"/>
      </p:transition>
    </mc:Choice>
    <mc:Fallback xmlns="">
      <p:transition spd="med">
        <p:fade/>
      </p:transition>
    </mc:Fallback>
  </mc:AlternateContent>
  <p:timing>
    <p:tnLst>
      <p:par>
        <p:cTn id="1" dur="indefinite" restart="never" nodeType="tmRoot"/>
      </p:par>
    </p:tnLst>
  </p:timing>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que">
  <a:themeElements>
    <a:clrScheme name="Organique">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que">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que">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3468</TotalTime>
  <Words>1277</Words>
  <Application>Microsoft Office PowerPoint</Application>
  <PresentationFormat>Grand écran</PresentationFormat>
  <Paragraphs>78</Paragraphs>
  <Slides>15</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15</vt:i4>
      </vt:variant>
    </vt:vector>
  </HeadingPairs>
  <TitlesOfParts>
    <vt:vector size="20" baseType="lpstr">
      <vt:lpstr>Algerian</vt:lpstr>
      <vt:lpstr>Arial</vt:lpstr>
      <vt:lpstr>Arial Unicode MS</vt:lpstr>
      <vt:lpstr>Garamond</vt:lpstr>
      <vt:lpstr>Organique</vt:lpstr>
      <vt:lpstr>Projet afriTalent</vt:lpstr>
      <vt:lpstr>Sommaire</vt:lpstr>
      <vt:lpstr>Présentation du projet, </vt:lpstr>
      <vt:lpstr>Choix de design : polices (justification), inspirations</vt:lpstr>
      <vt:lpstr>Présentation PowerPoint</vt:lpstr>
      <vt:lpstr>Architecture :</vt:lpstr>
      <vt:lpstr>Présentation PowerPoint</vt:lpstr>
      <vt:lpstr>Points techniques</vt:lpstr>
      <vt:lpstr>Css: avancee</vt:lpstr>
      <vt:lpstr>GitHub : historique des commits, workflow Git, lien GitHub Pages</vt:lpstr>
      <vt:lpstr>Difficultés rencontrées et solutions (minimum 2)</vt:lpstr>
      <vt:lpstr>Ressources et documentation utilisées</vt:lpstr>
      <vt:lpstr>Démonstration live du site</vt:lpstr>
      <vt:lpstr>Conclusion et perspectives d'amélioration</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AFRITALENT</dc:title>
  <dc:creator>Big</dc:creator>
  <cp:lastModifiedBy>Big</cp:lastModifiedBy>
  <cp:revision>47</cp:revision>
  <dcterms:created xsi:type="dcterms:W3CDTF">2026-06-16T00:26:30Z</dcterms:created>
  <dcterms:modified xsi:type="dcterms:W3CDTF">2026-06-23T22:46:41Z</dcterms:modified>
</cp:coreProperties>
</file>