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7" r:id="rId2"/>
    <p:sldId id="272" r:id="rId3"/>
    <p:sldId id="258" r:id="rId4"/>
    <p:sldId id="271" r:id="rId5"/>
    <p:sldId id="274" r:id="rId6"/>
    <p:sldId id="259" r:id="rId7"/>
    <p:sldId id="275" r:id="rId8"/>
    <p:sldId id="260" r:id="rId9"/>
    <p:sldId id="276" r:id="rId10"/>
    <p:sldId id="261" r:id="rId11"/>
    <p:sldId id="262" r:id="rId12"/>
    <p:sldId id="263" r:id="rId13"/>
    <p:sldId id="264" r:id="rId14"/>
    <p:sldId id="265" r:id="rId15"/>
    <p:sldId id="273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ction sans titre" id="{4AEA82A0-2AB9-4DCF-BE3B-AD6DBB8A5692}">
          <p14:sldIdLst>
            <p14:sldId id="277"/>
            <p14:sldId id="272"/>
            <p14:sldId id="258"/>
            <p14:sldId id="271"/>
            <p14:sldId id="274"/>
            <p14:sldId id="259"/>
            <p14:sldId id="275"/>
            <p14:sldId id="260"/>
            <p14:sldId id="276"/>
            <p14:sldId id="261"/>
            <p14:sldId id="262"/>
            <p14:sldId id="263"/>
            <p14:sldId id="264"/>
            <p14:sldId id="265"/>
            <p14:sldId id="273"/>
          </p14:sldIdLst>
        </p14:section>
        <p14:section name="description" id="{47B33BC3-9383-428C-895F-F0A66CF98279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Rg st="1" end="15"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4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7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Modifier le style des sous-titres du masque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176D0FA7-4F60-4B4F-BFEF-C92D59061BA6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CD2E92A1-6725-42D9-A294-51F30D86D17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53846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0FA7-4F60-4B4F-BFEF-C92D59061BA6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2A1-6725-42D9-A294-51F30D86D1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04081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0FA7-4F60-4B4F-BFEF-C92D59061BA6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2A1-6725-42D9-A294-51F30D86D17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2453708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0FA7-4F60-4B4F-BFEF-C92D59061BA6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2A1-6725-42D9-A294-51F30D86D1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526760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0FA7-4F60-4B4F-BFEF-C92D59061BA6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2A1-6725-42D9-A294-51F30D86D17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512455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0FA7-4F60-4B4F-BFEF-C92D59061BA6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2A1-6725-42D9-A294-51F30D86D17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807021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0FA7-4F60-4B4F-BFEF-C92D59061BA6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2A1-6725-42D9-A294-51F30D86D1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959766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0FA7-4F60-4B4F-BFEF-C92D59061BA6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2A1-6725-42D9-A294-51F30D86D17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791554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0FA7-4F60-4B4F-BFEF-C92D59061BA6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2A1-6725-42D9-A294-51F30D86D1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63987468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mage panoramiqu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fr-FR" smtClean="0"/>
              <a:t>Cliquez sur l'icône pour ajouter une image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0FA7-4F60-4B4F-BFEF-C92D59061BA6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2A1-6725-42D9-A294-51F30D86D1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27347766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0FA7-4F60-4B4F-BFEF-C92D59061BA6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2A1-6725-42D9-A294-51F30D86D17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8151095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tion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0FA7-4F60-4B4F-BFEF-C92D59061BA6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2A1-6725-42D9-A294-51F30D86D171}" type="slidenum">
              <a:rPr lang="fr-FR" smtClean="0"/>
              <a:t>‹N°›</a:t>
            </a:fld>
            <a:endParaRPr lang="fr-FR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5048628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0FA7-4F60-4B4F-BFEF-C92D59061BA6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2A1-6725-42D9-A294-51F30D86D1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293923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e nom cita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0FA7-4F60-4B4F-BFEF-C92D59061BA6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2A1-6725-42D9-A294-51F30D86D171}" type="slidenum">
              <a:rPr lang="fr-FR" smtClean="0"/>
              <a:t>‹N°›</a:t>
            </a:fld>
            <a:endParaRPr lang="fr-FR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17830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rai ou fau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Modifier les styles du texte du masque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0FA7-4F60-4B4F-BFEF-C92D59061BA6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2A1-6725-42D9-A294-51F30D86D17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7771830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0FA7-4F60-4B4F-BFEF-C92D59061BA6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2A1-6725-42D9-A294-51F30D86D17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676012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6D0FA7-4F60-4B4F-BFEF-C92D59061BA6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D2E92A1-6725-42D9-A294-51F30D86D171}" type="slidenum">
              <a:rPr lang="fr-FR" smtClean="0"/>
              <a:t>‹N°›</a:t>
            </a:fld>
            <a:endParaRPr lang="fr-FR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0477843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9">
            <a:alphaModFix amt="7000"/>
            <a:duotone>
              <a:prstClr val="black"/>
              <a:schemeClr val="accent3">
                <a:tint val="45000"/>
                <a:satMod val="400000"/>
              </a:schemeClr>
            </a:duotone>
            <a:lum/>
            <a:extLst>
              <a:ext uri="{BEBA8EAE-BF5A-486C-A8C5-ECC9F3942E4B}">
                <a14:imgProps xmlns:a14="http://schemas.microsoft.com/office/drawing/2010/main">
                  <a14:imgLayer r:embed="rId20">
                    <a14:imgEffect>
                      <a14:artisticPaintStrokes/>
                    </a14:imgEffect>
                    <a14:imgEffect>
                      <a14:colorTemperature colorTemp="7466"/>
                    </a14:imgEffect>
                    <a14:imgEffect>
                      <a14:saturation sat="400000"/>
                    </a14:imgEffect>
                  </a14:imgLayer>
                </a14:imgProps>
              </a:ext>
            </a:extLst>
          </a:blip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2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Modifiez le style du titre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fr-FR" smtClean="0"/>
              <a:t>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176D0FA7-4F60-4B4F-BFEF-C92D59061BA6}" type="datetimeFigureOut">
              <a:rPr lang="fr-FR" smtClean="0"/>
              <a:t>26/06/2026</a:t>
            </a:fld>
            <a:endParaRPr lang="fr-F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fr-F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D2E92A1-6725-42D9-A294-51F30D86D171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0270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6000" b="1" dirty="0" err="1" smtClean="0">
                <a:latin typeface="Algerian" panose="04020705040A02060702" pitchFamily="82" charset="0"/>
              </a:rPr>
              <a:t>Projet</a:t>
            </a:r>
            <a:r>
              <a:rPr lang="en-US" sz="6000" b="1" dirty="0" smtClean="0">
                <a:latin typeface="Algerian" panose="04020705040A02060702" pitchFamily="82" charset="0"/>
              </a:rPr>
              <a:t> </a:t>
            </a:r>
            <a:r>
              <a:rPr lang="en-US" sz="6000" b="1" dirty="0" err="1" smtClean="0">
                <a:latin typeface="Algerian" panose="04020705040A02060702" pitchFamily="82" charset="0"/>
              </a:rPr>
              <a:t>afriTalent</a:t>
            </a:r>
            <a:endParaRPr lang="fr-FR" sz="6000" b="1" dirty="0">
              <a:latin typeface="Algerian" panose="04020705040A02060702" pitchFamily="82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TITRE: AFRITALENT</a:t>
            </a:r>
          </a:p>
          <a:p>
            <a:r>
              <a:rPr lang="en-US" dirty="0" smtClean="0"/>
              <a:t>SOUS-TITRE: </a:t>
            </a:r>
            <a:r>
              <a:rPr lang="fr-FR" dirty="0"/>
              <a:t>Plateforme de mise en relation entre freelances </a:t>
            </a:r>
            <a:r>
              <a:rPr lang="fr-FR" dirty="0" err="1"/>
              <a:t>tech</a:t>
            </a:r>
            <a:r>
              <a:rPr lang="fr-FR" dirty="0"/>
              <a:t> et entreprises en Afrique</a:t>
            </a:r>
            <a:endParaRPr lang="en-US" dirty="0" smtClean="0"/>
          </a:p>
          <a:p>
            <a:r>
              <a:rPr lang="en-US" dirty="0" smtClean="0"/>
              <a:t>NOM : MOUHAMED MOUSTAPHA FALL</a:t>
            </a:r>
          </a:p>
          <a:p>
            <a:r>
              <a:rPr lang="en-US" dirty="0" smtClean="0"/>
              <a:t>CLASSE: L1 IAGE</a:t>
            </a:r>
          </a:p>
          <a:p>
            <a:r>
              <a:rPr lang="en-US" dirty="0" smtClean="0"/>
              <a:t> DATE :Le 24/06/2026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11090320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z="6000" b="1" i="1" dirty="0">
                <a:latin typeface="Algerian" panose="04020705040A02060702" pitchFamily="82" charset="0"/>
              </a:rPr>
              <a:t>Sommaire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romanUcPeriod"/>
            </a:pPr>
            <a:r>
              <a:rPr lang="fr-FR" dirty="0"/>
              <a:t>Contexte </a:t>
            </a:r>
            <a:r>
              <a:rPr lang="fr-FR" dirty="0" smtClean="0"/>
              <a:t>Et Objectifs </a:t>
            </a:r>
            <a:r>
              <a:rPr lang="fr-FR" dirty="0"/>
              <a:t>du </a:t>
            </a:r>
            <a:r>
              <a:rPr lang="fr-FR" dirty="0" smtClean="0"/>
              <a:t>projet</a:t>
            </a:r>
            <a:r>
              <a:rPr lang="en-US" dirty="0" smtClean="0"/>
              <a:t>.</a:t>
            </a:r>
            <a:endParaRPr lang="en-US" sz="2600" dirty="0" smtClean="0"/>
          </a:p>
          <a:p>
            <a:pPr marL="571500" indent="-571500">
              <a:buFont typeface="+mj-lt"/>
              <a:buAutoNum type="romanUcPeriod"/>
            </a:pPr>
            <a:r>
              <a:rPr lang="nn-NO" sz="2800" dirty="0"/>
              <a:t>Identité visuelle </a:t>
            </a:r>
            <a:r>
              <a:rPr lang="fr-FR" sz="2800" dirty="0"/>
              <a:t>Et</a:t>
            </a:r>
            <a:r>
              <a:rPr lang="nn-NO" sz="2800" dirty="0" smtClean="0"/>
              <a:t> </a:t>
            </a:r>
            <a:r>
              <a:rPr lang="nn-NO" sz="2800" dirty="0"/>
              <a:t>Design web </a:t>
            </a:r>
            <a:r>
              <a:rPr lang="nn-NO" sz="2800" dirty="0" smtClean="0"/>
              <a:t>2026</a:t>
            </a:r>
            <a:endParaRPr lang="en-US" sz="2600" dirty="0" smtClean="0"/>
          </a:p>
          <a:p>
            <a:pPr marL="571500" indent="-571500">
              <a:buFont typeface="+mj-lt"/>
              <a:buAutoNum type="romanUcPeriod"/>
            </a:pPr>
            <a:r>
              <a:rPr lang="fr-FR" sz="2800" dirty="0"/>
              <a:t>Architecture Et </a:t>
            </a:r>
            <a:r>
              <a:rPr lang="fr-FR" sz="2800" dirty="0" smtClean="0"/>
              <a:t>Structure sémantique</a:t>
            </a:r>
            <a:endParaRPr lang="en-US" sz="2600" dirty="0" smtClean="0"/>
          </a:p>
          <a:p>
            <a:pPr marL="571500" indent="-571500">
              <a:buFont typeface="+mj-lt"/>
              <a:buAutoNum type="romanUcPeriod"/>
            </a:pPr>
            <a:r>
              <a:rPr lang="fr-FR" sz="2800" dirty="0"/>
              <a:t>Réalisation technique (CSS Et</a:t>
            </a:r>
            <a:r>
              <a:rPr lang="fr-FR" sz="2800" dirty="0" smtClean="0"/>
              <a:t> </a:t>
            </a:r>
            <a:r>
              <a:rPr lang="fr-FR" sz="2800" dirty="0" err="1"/>
              <a:t>Bootstrap</a:t>
            </a:r>
            <a:r>
              <a:rPr lang="fr-FR" sz="2800" dirty="0"/>
              <a:t> 5</a:t>
            </a:r>
            <a:r>
              <a:rPr lang="fr-FR" sz="2800" dirty="0" smtClean="0"/>
              <a:t>)</a:t>
            </a:r>
            <a:endParaRPr lang="en-US" sz="2600" dirty="0" smtClean="0"/>
          </a:p>
          <a:p>
            <a:pPr marL="571500" indent="-571500">
              <a:buFont typeface="+mj-lt"/>
              <a:buAutoNum type="romanUcPeriod"/>
            </a:pPr>
            <a:r>
              <a:rPr lang="fr-FR" sz="2800" dirty="0"/>
              <a:t>Dynamisme Et</a:t>
            </a:r>
            <a:r>
              <a:rPr lang="fr-FR" sz="2800" dirty="0" smtClean="0"/>
              <a:t> </a:t>
            </a:r>
            <a:r>
              <a:rPr lang="fr-FR" sz="2800" dirty="0"/>
              <a:t>Logique JavaScript </a:t>
            </a:r>
            <a:r>
              <a:rPr lang="fr-FR" sz="2800" dirty="0" err="1" smtClean="0"/>
              <a:t>vanilla</a:t>
            </a:r>
            <a:endParaRPr lang="en-US" sz="2600" dirty="0" smtClean="0"/>
          </a:p>
          <a:p>
            <a:pPr marL="571500" indent="-571500">
              <a:buFont typeface="+mj-lt"/>
              <a:buAutoNum type="romanUcPeriod"/>
            </a:pPr>
            <a:r>
              <a:rPr lang="fr-FR" sz="2800" dirty="0" err="1"/>
              <a:t>Versioning</a:t>
            </a:r>
            <a:r>
              <a:rPr lang="fr-FR" sz="2800" dirty="0"/>
              <a:t> Git Et</a:t>
            </a:r>
            <a:r>
              <a:rPr lang="fr-FR" sz="2800" dirty="0" smtClean="0"/>
              <a:t> Conclusion</a:t>
            </a:r>
            <a:endParaRPr lang="fr-FR" sz="2600" dirty="0"/>
          </a:p>
        </p:txBody>
      </p:sp>
    </p:spTree>
    <p:extLst>
      <p:ext uri="{BB962C8B-B14F-4D97-AF65-F5344CB8AC3E}">
        <p14:creationId xmlns:p14="http://schemas.microsoft.com/office/powerpoint/2010/main" val="427076828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5400" b="1" i="1" dirty="0">
                <a:latin typeface="Algerian" panose="04020705040A02060702" pitchFamily="82" charset="0"/>
              </a:rPr>
              <a:t>Présentation du </a:t>
            </a:r>
            <a:r>
              <a:rPr lang="fr-FR" sz="5400" b="1" i="1" dirty="0" smtClean="0">
                <a:latin typeface="Algerian" panose="04020705040A02060702" pitchFamily="82" charset="0"/>
              </a:rPr>
              <a:t>projet</a:t>
            </a:r>
            <a:r>
              <a:rPr lang="fr-FR" dirty="0" smtClean="0"/>
              <a:t>, </a:t>
            </a:r>
            <a:endParaRPr lang="fr-FR" dirty="0"/>
          </a:p>
        </p:txBody>
      </p:sp>
      <p:sp>
        <p:nvSpPr>
          <p:cNvPr id="5" name="Espace réservé du contenu 4"/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r>
              <a:rPr lang="fr-FR" sz="2800" b="1" dirty="0"/>
              <a:t>Contexte : </a:t>
            </a:r>
            <a:r>
              <a:rPr lang="fr-FR" sz="2800" dirty="0" smtClean="0"/>
              <a:t>Le </a:t>
            </a:r>
            <a:r>
              <a:rPr lang="fr-FR" sz="2800" dirty="0"/>
              <a:t>marché du travail indépendant dans le secteur de la </a:t>
            </a:r>
            <a:r>
              <a:rPr lang="fr-FR" sz="2800" dirty="0" smtClean="0"/>
              <a:t>Tech </a:t>
            </a:r>
            <a:r>
              <a:rPr lang="fr-FR" sz="2800" dirty="0"/>
              <a:t>en Afrique connaît une croissance explosive. De plus en plus de développeurs, de designers et de créateurs de contenu ont besoin d'une plateforme fiable pour proposer leurs services. </a:t>
            </a:r>
            <a:endParaRPr lang="fr-FR" sz="2800" b="1" dirty="0" smtClean="0"/>
          </a:p>
          <a:p>
            <a:r>
              <a:rPr lang="fr-FR" sz="2800" b="1" dirty="0" smtClean="0"/>
              <a:t>Objectif : Vitrine et Conversion Modernité 2026 Technique et Maîtrise complet des langages</a:t>
            </a:r>
          </a:p>
          <a:p>
            <a:r>
              <a:rPr lang="fr-FR" sz="2800" b="1" dirty="0" smtClean="0"/>
              <a:t>public cible : Les freelances </a:t>
            </a:r>
            <a:r>
              <a:rPr lang="fr-FR" sz="2800" b="1" dirty="0" err="1" smtClean="0"/>
              <a:t>Techs</a:t>
            </a:r>
            <a:r>
              <a:rPr lang="fr-FR" sz="2800" b="1" dirty="0" smtClean="0"/>
              <a:t> et les Entreprises, Recruteurs</a:t>
            </a: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38978251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6000" b="1" i="1" dirty="0">
                <a:latin typeface="Algerian" panose="04020705040A02060702" pitchFamily="82" charset="0"/>
              </a:rPr>
              <a:t>Choix de design </a:t>
            </a:r>
            <a:r>
              <a:rPr lang="fr-FR" dirty="0"/>
              <a:t>: </a:t>
            </a:r>
            <a:r>
              <a:rPr lang="fr-FR" dirty="0" smtClean="0"/>
              <a:t>polices </a:t>
            </a:r>
            <a:r>
              <a:rPr lang="fr-FR" dirty="0"/>
              <a:t>(justification), inspirations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fr-FR" sz="2800" b="1" dirty="0" smtClean="0"/>
              <a:t>Palette :(le noir , l’orange , bleu , blanc et gris)</a:t>
            </a:r>
            <a:r>
              <a:rPr lang="fr-FR" sz="2800" dirty="0" smtClean="0"/>
              <a:t> </a:t>
            </a:r>
            <a:r>
              <a:rPr lang="fr-FR" sz="2800" dirty="0"/>
              <a:t>Contrastes validés pour la navigation de tous les </a:t>
            </a:r>
            <a:r>
              <a:rPr lang="fr-FR" sz="2800" dirty="0" smtClean="0"/>
              <a:t>utilisateurs pour une vue attirante et augmente</a:t>
            </a:r>
            <a:endParaRPr lang="fr-FR" sz="2800" b="1" dirty="0" smtClean="0"/>
          </a:p>
          <a:p>
            <a:r>
              <a:rPr lang="en-US" sz="2800" b="1" dirty="0" smtClean="0"/>
              <a:t>Police : </a:t>
            </a:r>
            <a:r>
              <a:rPr lang="fr-FR" dirty="0" smtClean="0"/>
              <a:t>Plus </a:t>
            </a:r>
            <a:r>
              <a:rPr lang="fr-FR" dirty="0"/>
              <a:t>Jakarta </a:t>
            </a:r>
            <a:r>
              <a:rPr lang="fr-FR" dirty="0" smtClean="0"/>
              <a:t>Sans, Inter ,sans-</a:t>
            </a:r>
            <a:r>
              <a:rPr lang="fr-FR" dirty="0" err="1" smtClean="0"/>
              <a:t>serif</a:t>
            </a:r>
            <a:r>
              <a:rPr lang="fr-FR" dirty="0" smtClean="0"/>
              <a:t>.</a:t>
            </a:r>
            <a:r>
              <a:rPr lang="fr-FR" sz="2800" dirty="0"/>
              <a:t> Le duo de polices </a:t>
            </a:r>
            <a:r>
              <a:rPr lang="fr-FR" sz="2800" b="1" dirty="0"/>
              <a:t>Plus Jakarta Sans</a:t>
            </a:r>
            <a:r>
              <a:rPr lang="fr-FR" sz="2800" dirty="0"/>
              <a:t> et </a:t>
            </a:r>
            <a:r>
              <a:rPr lang="fr-FR" sz="2800" b="1" dirty="0"/>
              <a:t>Inter</a:t>
            </a:r>
            <a:r>
              <a:rPr lang="fr-FR" sz="2800" dirty="0"/>
              <a:t> est un choix particulièrement stratégique pour l'écosystème web de 2026 : il combine la géométrie moderne de </a:t>
            </a:r>
            <a:r>
              <a:rPr lang="fr-FR" sz="2800" i="1" dirty="0"/>
              <a:t>Plus Jakarta Sans</a:t>
            </a:r>
            <a:r>
              <a:rPr lang="fr-FR" sz="2800" dirty="0"/>
              <a:t> pour les titres et la lisibilité absolue d'</a:t>
            </a:r>
            <a:r>
              <a:rPr lang="fr-FR" sz="2800" i="1" dirty="0"/>
              <a:t>Inter</a:t>
            </a:r>
            <a:r>
              <a:rPr lang="fr-FR" sz="2800" dirty="0"/>
              <a:t> pour les longs blocs de texte.</a:t>
            </a:r>
            <a:endParaRPr lang="en-US" sz="2800" b="1" dirty="0" smtClean="0"/>
          </a:p>
        </p:txBody>
      </p:sp>
    </p:spTree>
    <p:extLst>
      <p:ext uri="{BB962C8B-B14F-4D97-AF65-F5344CB8AC3E}">
        <p14:creationId xmlns:p14="http://schemas.microsoft.com/office/powerpoint/2010/main" val="39432767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90575" y="1943100"/>
            <a:ext cx="10801350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b="1" dirty="0"/>
              <a:t>Inspiration</a:t>
            </a:r>
            <a:r>
              <a:rPr lang="fr-FR" sz="2200" b="1" dirty="0"/>
              <a:t> </a:t>
            </a:r>
            <a:r>
              <a:rPr lang="fr-FR" sz="2200" b="1" dirty="0" smtClean="0"/>
              <a:t>:</a:t>
            </a:r>
            <a:r>
              <a:rPr lang="fr-FR" sz="2400" dirty="0"/>
              <a:t>L'identité visuelle d'</a:t>
            </a:r>
            <a:r>
              <a:rPr lang="fr-FR" sz="2400" dirty="0" err="1"/>
              <a:t>AfriTalent</a:t>
            </a:r>
            <a:r>
              <a:rPr lang="fr-FR" sz="2400" dirty="0"/>
              <a:t> 2026 affirme son ancrage continental à travers un design épuré, asymétrique et moderne, structuré par une </a:t>
            </a:r>
            <a:r>
              <a:rPr lang="fr-FR" sz="2400" i="1" dirty="0"/>
              <a:t>Bento </a:t>
            </a:r>
            <a:r>
              <a:rPr lang="fr-FR" sz="2400" i="1" dirty="0" err="1"/>
              <a:t>Grid</a:t>
            </a:r>
            <a:r>
              <a:rPr lang="fr-FR" sz="2400" dirty="0"/>
              <a:t> de haute précision. Elle marie la rigueur technologique à l'énergie africaine en associant le </a:t>
            </a:r>
            <a:r>
              <a:rPr lang="fr-FR" sz="2400" b="1" dirty="0"/>
              <a:t>Bleu Abyssal</a:t>
            </a:r>
            <a:r>
              <a:rPr lang="fr-FR" sz="2400" dirty="0"/>
              <a:t> (stabilité) à l'</a:t>
            </a:r>
            <a:r>
              <a:rPr lang="fr-FR" sz="2400" b="1" dirty="0"/>
              <a:t>Orange Safari</a:t>
            </a:r>
            <a:r>
              <a:rPr lang="fr-FR" sz="2400" dirty="0"/>
              <a:t> (dynamisme), le tout contrasté sur des fonds </a:t>
            </a:r>
            <a:r>
              <a:rPr lang="fr-FR" sz="2400" b="1" dirty="0"/>
              <a:t>Blanc Craie</a:t>
            </a:r>
            <a:r>
              <a:rPr lang="fr-FR" sz="2400" dirty="0"/>
              <a:t> ou </a:t>
            </a:r>
            <a:r>
              <a:rPr lang="fr-FR" sz="2400" b="1" dirty="0"/>
              <a:t>Noir Carbone</a:t>
            </a:r>
            <a:r>
              <a:rPr lang="fr-FR" sz="2400" dirty="0"/>
              <a:t> (mode nuit). Portée par les typographies </a:t>
            </a:r>
            <a:r>
              <a:rPr lang="fr-FR" sz="2400" i="1" dirty="0"/>
              <a:t>Plus Jakarta Sans</a:t>
            </a:r>
            <a:r>
              <a:rPr lang="fr-FR" sz="2400" dirty="0"/>
              <a:t> et </a:t>
            </a:r>
            <a:r>
              <a:rPr lang="fr-FR" sz="2400" i="1" dirty="0"/>
              <a:t>Inter</a:t>
            </a:r>
            <a:r>
              <a:rPr lang="fr-FR" sz="2400" dirty="0"/>
              <a:t>, l'interface offre une expérience immersive et lisible, symbolisant la nouvelle ère de l'excellence </a:t>
            </a:r>
            <a:r>
              <a:rPr lang="fr-FR" sz="2400" dirty="0" err="1"/>
              <a:t>tech</a:t>
            </a:r>
            <a:r>
              <a:rPr lang="fr-FR" sz="2400" dirty="0"/>
              <a:t> en Afrique.</a:t>
            </a:r>
            <a:endParaRPr lang="en-US" sz="2200" b="1" dirty="0"/>
          </a:p>
        </p:txBody>
      </p:sp>
    </p:spTree>
    <p:extLst>
      <p:ext uri="{BB962C8B-B14F-4D97-AF65-F5344CB8AC3E}">
        <p14:creationId xmlns:p14="http://schemas.microsoft.com/office/powerpoint/2010/main" val="47334253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1295402" y="658282"/>
            <a:ext cx="9601196" cy="1303867"/>
          </a:xfrm>
        </p:spPr>
        <p:txBody>
          <a:bodyPr>
            <a:normAutofit/>
          </a:bodyPr>
          <a:lstStyle/>
          <a:p>
            <a:r>
              <a:rPr lang="fr-FR" sz="6000" b="1" i="1" dirty="0">
                <a:latin typeface="Algerian" panose="04020705040A02060702" pitchFamily="82" charset="0"/>
              </a:rPr>
              <a:t>Architecture</a:t>
            </a:r>
            <a:r>
              <a:rPr lang="fr-FR" dirty="0"/>
              <a:t> </a:t>
            </a:r>
            <a:r>
              <a:rPr lang="fr-FR" dirty="0" smtClean="0"/>
              <a:t>: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19202" y="1748790"/>
            <a:ext cx="9601196" cy="4019127"/>
          </a:xfrm>
        </p:spPr>
        <p:txBody>
          <a:bodyPr/>
          <a:lstStyle/>
          <a:p>
            <a:r>
              <a:rPr lang="fr-FR" dirty="0"/>
              <a:t>captures d'écran des </a:t>
            </a:r>
            <a:r>
              <a:rPr lang="fr-FR" dirty="0" smtClean="0"/>
              <a:t>pages</a:t>
            </a:r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56" y="2535317"/>
            <a:ext cx="3138168" cy="1691038"/>
          </a:xfrm>
          <a:prstGeom prst="rect">
            <a:avLst/>
          </a:prstGeom>
        </p:spPr>
      </p:pic>
      <p:pic>
        <p:nvPicPr>
          <p:cNvPr id="4" name="Image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4689" y="4426343"/>
            <a:ext cx="3590222" cy="1753117"/>
          </a:xfrm>
          <a:prstGeom prst="rect">
            <a:avLst/>
          </a:prstGeom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7370" y="2535317"/>
            <a:ext cx="3214368" cy="1782699"/>
          </a:xfrm>
          <a:prstGeom prst="rect">
            <a:avLst/>
          </a:prstGeom>
        </p:spPr>
      </p:pic>
      <p:pic>
        <p:nvPicPr>
          <p:cNvPr id="7" name="Image 6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02956" y="4426344"/>
            <a:ext cx="2983229" cy="1753116"/>
          </a:xfrm>
          <a:prstGeom prst="rect">
            <a:avLst/>
          </a:prstGeom>
        </p:spPr>
      </p:pic>
      <p:pic>
        <p:nvPicPr>
          <p:cNvPr id="8" name="Image 7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7218" y="2535317"/>
            <a:ext cx="2899426" cy="16910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261801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809625" y="1585943"/>
            <a:ext cx="6096000" cy="452431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fr-FR" dirty="0" smtClean="0"/>
              <a:t>FALL-MOUHAMED-</a:t>
            </a:r>
            <a:r>
              <a:rPr lang="fr-FR" dirty="0" err="1" smtClean="0"/>
              <a:t>AfriTalent</a:t>
            </a:r>
            <a:r>
              <a:rPr lang="fr-FR" dirty="0"/>
              <a:t>/</a:t>
            </a:r>
          </a:p>
          <a:p>
            <a:r>
              <a:rPr lang="fr-FR" dirty="0"/>
              <a:t>├── index.html</a:t>
            </a:r>
          </a:p>
          <a:p>
            <a:r>
              <a:rPr lang="fr-FR" dirty="0"/>
              <a:t>├── freelances.html</a:t>
            </a:r>
          </a:p>
          <a:p>
            <a:r>
              <a:rPr lang="fr-FR" dirty="0"/>
              <a:t>├── tarifs.html </a:t>
            </a:r>
          </a:p>
          <a:p>
            <a:r>
              <a:rPr lang="fr-FR" dirty="0"/>
              <a:t>├── about.html</a:t>
            </a:r>
          </a:p>
          <a:p>
            <a:r>
              <a:rPr lang="fr-FR" dirty="0"/>
              <a:t>├── contact.html </a:t>
            </a:r>
          </a:p>
          <a:p>
            <a:r>
              <a:rPr lang="fr-FR" dirty="0"/>
              <a:t>├── </a:t>
            </a:r>
            <a:r>
              <a:rPr lang="fr-FR" dirty="0" err="1"/>
              <a:t>css</a:t>
            </a:r>
            <a:r>
              <a:rPr lang="fr-FR" dirty="0"/>
              <a:t>/</a:t>
            </a:r>
          </a:p>
          <a:p>
            <a:r>
              <a:rPr lang="fr-FR" dirty="0"/>
              <a:t>│   └── style.css</a:t>
            </a:r>
          </a:p>
          <a:p>
            <a:r>
              <a:rPr lang="fr-FR" dirty="0"/>
              <a:t>├── </a:t>
            </a:r>
            <a:r>
              <a:rPr lang="fr-FR" dirty="0" err="1"/>
              <a:t>js</a:t>
            </a:r>
            <a:r>
              <a:rPr lang="fr-FR" dirty="0"/>
              <a:t>/</a:t>
            </a:r>
          </a:p>
          <a:p>
            <a:r>
              <a:rPr lang="fr-FR" dirty="0"/>
              <a:t>│   └── main.js</a:t>
            </a:r>
          </a:p>
          <a:p>
            <a:r>
              <a:rPr lang="fr-FR" dirty="0"/>
              <a:t>├── images/</a:t>
            </a:r>
          </a:p>
          <a:p>
            <a:r>
              <a:rPr lang="fr-FR" dirty="0"/>
              <a:t>│   └── </a:t>
            </a:r>
            <a:r>
              <a:rPr lang="fr-FR" dirty="0" smtClean="0"/>
              <a:t>(images</a:t>
            </a:r>
            <a:r>
              <a:rPr lang="fr-FR" dirty="0"/>
              <a:t>, logos</a:t>
            </a:r>
            <a:r>
              <a:rPr lang="fr-FR" dirty="0" smtClean="0"/>
              <a:t>,)</a:t>
            </a:r>
            <a:endParaRPr lang="fr-FR" dirty="0"/>
          </a:p>
          <a:p>
            <a:r>
              <a:rPr lang="fr-FR" dirty="0"/>
              <a:t>├── docs/</a:t>
            </a:r>
          </a:p>
          <a:p>
            <a:r>
              <a:rPr lang="fr-FR" dirty="0"/>
              <a:t>│   └──</a:t>
            </a:r>
          </a:p>
          <a:p>
            <a:r>
              <a:rPr lang="fr-FR" dirty="0"/>
              <a:t>├── README.md</a:t>
            </a:r>
          </a:p>
          <a:p>
            <a:r>
              <a:rPr lang="fr-FR" dirty="0"/>
              <a:t>└── .</a:t>
            </a:r>
            <a:r>
              <a:rPr lang="fr-FR" dirty="0" err="1"/>
              <a:t>gitignore</a:t>
            </a:r>
            <a:r>
              <a:rPr lang="fr-FR" dirty="0"/>
              <a:t> </a:t>
            </a:r>
          </a:p>
        </p:txBody>
      </p:sp>
      <p:sp>
        <p:nvSpPr>
          <p:cNvPr id="3" name="Rectangle 2"/>
          <p:cNvSpPr/>
          <p:nvPr/>
        </p:nvSpPr>
        <p:spPr>
          <a:xfrm>
            <a:off x="809625" y="796409"/>
            <a:ext cx="2257425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sz="2800" b="1" u="sng" dirty="0" smtClean="0"/>
              <a:t>Arborescence</a:t>
            </a:r>
            <a:endParaRPr lang="fr-FR" sz="2800" b="1" u="sng" dirty="0"/>
          </a:p>
        </p:txBody>
      </p:sp>
    </p:spTree>
    <p:extLst>
      <p:ext uri="{BB962C8B-B14F-4D97-AF65-F5344CB8AC3E}">
        <p14:creationId xmlns:p14="http://schemas.microsoft.com/office/powerpoint/2010/main" val="51886924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sz="6000" b="1" i="1" dirty="0">
                <a:latin typeface="Algerian" panose="04020705040A02060702" pitchFamily="82" charset="0"/>
              </a:rPr>
              <a:t>Points </a:t>
            </a:r>
            <a:r>
              <a:rPr lang="fr-FR" sz="6000" b="1" i="1" dirty="0" smtClean="0">
                <a:latin typeface="Algerian" panose="04020705040A02060702" pitchFamily="82" charset="0"/>
              </a:rPr>
              <a:t>techniques</a:t>
            </a:r>
            <a:endParaRPr lang="fr-FR" dirty="0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fr-FR" dirty="0"/>
              <a:t>JS </a:t>
            </a:r>
            <a:r>
              <a:rPr lang="fr-FR" dirty="0" smtClean="0"/>
              <a:t>[extraits </a:t>
            </a:r>
            <a:r>
              <a:rPr lang="fr-FR" dirty="0"/>
              <a:t>de code + </a:t>
            </a:r>
            <a:r>
              <a:rPr lang="fr-FR" dirty="0" smtClean="0"/>
              <a:t>logique] on a </a:t>
            </a:r>
            <a:r>
              <a:rPr lang="fr-FR" dirty="0" err="1" smtClean="0"/>
              <a:t>employe</a:t>
            </a:r>
            <a:r>
              <a:rPr lang="fr-FR" dirty="0" smtClean="0"/>
              <a:t> le </a:t>
            </a:r>
            <a:r>
              <a:rPr lang="fr-FR" dirty="0" err="1" smtClean="0"/>
              <a:t>js</a:t>
            </a:r>
            <a:r>
              <a:rPr lang="fr-FR" dirty="0" smtClean="0"/>
              <a:t>(changement de style au </a:t>
            </a:r>
            <a:r>
              <a:rPr lang="fr-FR" dirty="0" err="1" smtClean="0"/>
              <a:t>scrool</a:t>
            </a:r>
            <a:r>
              <a:rPr lang="fr-FR" dirty="0" smtClean="0"/>
              <a:t>) pour interagir et de dynamiser le site comme par exemple le </a:t>
            </a:r>
            <a:r>
              <a:rPr lang="fr-FR" dirty="0" err="1" smtClean="0"/>
              <a:t>scrool</a:t>
            </a:r>
            <a:r>
              <a:rPr lang="fr-FR" dirty="0" smtClean="0"/>
              <a:t> sur la page. Ensuite le </a:t>
            </a:r>
            <a:r>
              <a:rPr lang="fr-FR" dirty="0" err="1" smtClean="0"/>
              <a:t>Toggle</a:t>
            </a:r>
            <a:r>
              <a:rPr lang="fr-FR" dirty="0" smtClean="0"/>
              <a:t> </a:t>
            </a:r>
            <a:r>
              <a:rPr lang="fr-FR" dirty="0" err="1" smtClean="0"/>
              <a:t>Dark</a:t>
            </a:r>
            <a:r>
              <a:rPr lang="fr-FR" dirty="0" smtClean="0"/>
              <a:t> mode avec la persistance </a:t>
            </a:r>
            <a:r>
              <a:rPr lang="fr-FR" dirty="0" err="1" smtClean="0"/>
              <a:t>localstorage</a:t>
            </a:r>
            <a:r>
              <a:rPr lang="fr-FR" dirty="0" smtClean="0"/>
              <a:t> et </a:t>
            </a:r>
            <a:r>
              <a:rPr lang="fr-FR" dirty="0" err="1" smtClean="0"/>
              <a:t>verifier</a:t>
            </a:r>
            <a:r>
              <a:rPr lang="fr-FR" dirty="0" smtClean="0"/>
              <a:t> le du </a:t>
            </a:r>
            <a:r>
              <a:rPr lang="fr-FR" dirty="0" err="1" smtClean="0"/>
              <a:t>theme</a:t>
            </a:r>
            <a:r>
              <a:rPr lang="fr-FR" dirty="0" smtClean="0"/>
              <a:t> . </a:t>
            </a:r>
            <a:r>
              <a:rPr lang="fr-FR" dirty="0"/>
              <a:t>E</a:t>
            </a:r>
            <a:r>
              <a:rPr lang="fr-FR" dirty="0" smtClean="0"/>
              <a:t>t enfin astuce de de </a:t>
            </a:r>
            <a:r>
              <a:rPr lang="fr-FR" dirty="0" err="1" smtClean="0"/>
              <a:t>css</a:t>
            </a:r>
            <a:r>
              <a:rPr lang="fr-FR" dirty="0" smtClean="0"/>
              <a:t> pour lier le </a:t>
            </a:r>
            <a:r>
              <a:rPr lang="fr-FR" dirty="0" err="1" smtClean="0"/>
              <a:t>javascript</a:t>
            </a:r>
            <a:r>
              <a:rPr lang="fr-FR" dirty="0" smtClean="0"/>
              <a:t> </a:t>
            </a:r>
          </a:p>
          <a:p>
            <a:r>
              <a:rPr lang="fr-FR" dirty="0" err="1"/>
              <a:t>Bootstrap</a:t>
            </a:r>
            <a:r>
              <a:rPr lang="fr-FR" dirty="0"/>
              <a:t> </a:t>
            </a:r>
            <a:r>
              <a:rPr lang="fr-FR" dirty="0" smtClean="0"/>
              <a:t>[composants utilisés</a:t>
            </a:r>
            <a:r>
              <a:rPr lang="fr-FR" dirty="0"/>
              <a:t>] Pour un projet web moderne, performant et élégant (comme une plateforme </a:t>
            </a:r>
            <a:r>
              <a:rPr lang="fr-FR" dirty="0" err="1"/>
              <a:t>SaaS</a:t>
            </a:r>
            <a:r>
              <a:rPr lang="fr-FR" dirty="0"/>
              <a:t> ou une </a:t>
            </a:r>
            <a:r>
              <a:rPr lang="fr-FR" dirty="0" err="1"/>
              <a:t>marketplace</a:t>
            </a:r>
            <a:r>
              <a:rPr lang="fr-FR" dirty="0"/>
              <a:t> de freelances), l'utilisation stratégique des composants </a:t>
            </a:r>
            <a:r>
              <a:rPr lang="fr-FR" b="1" dirty="0" err="1"/>
              <a:t>Bootstrap</a:t>
            </a:r>
            <a:r>
              <a:rPr lang="fr-FR" b="1" dirty="0"/>
              <a:t> 5</a:t>
            </a:r>
            <a:r>
              <a:rPr lang="fr-FR" dirty="0"/>
              <a:t> permet de gagner un temps précieux sur l'ergonomie et la réactivité (</a:t>
            </a:r>
            <a:r>
              <a:rPr lang="fr-FR" dirty="0" err="1"/>
              <a:t>responsiveness</a:t>
            </a:r>
            <a:r>
              <a:rPr lang="fr-FR" dirty="0" smtClean="0"/>
              <a:t>).on a utiliser la barre de navigation , le système de grille mixte , les cartes ,l’</a:t>
            </a:r>
            <a:r>
              <a:rPr lang="fr-FR" dirty="0" err="1" smtClean="0"/>
              <a:t>accordéon,les</a:t>
            </a:r>
            <a:r>
              <a:rPr lang="fr-FR" dirty="0" smtClean="0"/>
              <a:t> </a:t>
            </a:r>
            <a:r>
              <a:rPr lang="fr-FR" dirty="0" err="1" smtClean="0"/>
              <a:t>bouttons</a:t>
            </a:r>
            <a:r>
              <a:rPr lang="fr-FR" dirty="0" smtClean="0"/>
              <a:t> , les badges , et les composants dynamiques </a:t>
            </a:r>
          </a:p>
          <a:p>
            <a:r>
              <a:rPr lang="fr-FR" sz="1400" dirty="0"/>
              <a:t/>
            </a:r>
            <a:br>
              <a:rPr lang="fr-FR" sz="1400" dirty="0"/>
            </a:b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275074095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76275" y="714374"/>
            <a:ext cx="1057275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dirty="0" smtClean="0"/>
              <a:t>  </a:t>
            </a:r>
          </a:p>
          <a:p>
            <a:endParaRPr lang="fr-FR" dirty="0"/>
          </a:p>
        </p:txBody>
      </p:sp>
      <p:sp>
        <p:nvSpPr>
          <p:cNvPr id="11" name="Titre 10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Css</a:t>
            </a:r>
            <a:r>
              <a:rPr lang="en-US" dirty="0" smtClean="0"/>
              <a:t>: </a:t>
            </a:r>
            <a:r>
              <a:rPr lang="en-US" dirty="0" err="1" smtClean="0"/>
              <a:t>avancee</a:t>
            </a:r>
            <a:endParaRPr lang="fr-FR" dirty="0"/>
          </a:p>
        </p:txBody>
      </p:sp>
      <p:sp>
        <p:nvSpPr>
          <p:cNvPr id="12" name="Espace réservé du contenu 1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 </a:t>
            </a:r>
            <a:r>
              <a:rPr lang="en-US" dirty="0" err="1" smtClean="0"/>
              <a:t>loyaute</a:t>
            </a:r>
            <a:r>
              <a:rPr lang="en-US" dirty="0" smtClean="0"/>
              <a:t> (le bento Grid </a:t>
            </a:r>
            <a:r>
              <a:rPr lang="en-US" dirty="0" err="1" smtClean="0"/>
              <a:t>avance</a:t>
            </a:r>
            <a:r>
              <a:rPr lang="en-US" dirty="0" smtClean="0"/>
              <a:t>)</a:t>
            </a:r>
          </a:p>
          <a:p>
            <a:r>
              <a:rPr lang="en-US" dirty="0" smtClean="0"/>
              <a:t>Le visual(le </a:t>
            </a:r>
            <a:r>
              <a:rPr lang="en-US" dirty="0" err="1" smtClean="0"/>
              <a:t>glassmorphism</a:t>
            </a:r>
            <a:r>
              <a:rPr lang="en-US" dirty="0" smtClean="0"/>
              <a:t>)</a:t>
            </a:r>
            <a:r>
              <a:rPr lang="en-US" dirty="0" err="1" smtClean="0"/>
              <a:t>effet</a:t>
            </a:r>
            <a:r>
              <a:rPr lang="en-US" dirty="0" smtClean="0"/>
              <a:t> de </a:t>
            </a:r>
            <a:r>
              <a:rPr lang="en-US" dirty="0" err="1" smtClean="0"/>
              <a:t>verre</a:t>
            </a:r>
            <a:r>
              <a:rPr lang="en-US" dirty="0" smtClean="0"/>
              <a:t> </a:t>
            </a:r>
            <a:r>
              <a:rPr lang="en-US" dirty="0" err="1" smtClean="0"/>
              <a:t>depoli</a:t>
            </a:r>
            <a:endParaRPr lang="en-US" dirty="0" smtClean="0"/>
          </a:p>
          <a:p>
            <a:r>
              <a:rPr lang="en-US" dirty="0" err="1" smtClean="0"/>
              <a:t>L’ambiance</a:t>
            </a:r>
            <a:r>
              <a:rPr lang="en-US" dirty="0" smtClean="0"/>
              <a:t> des degrader de context glow effects</a:t>
            </a:r>
          </a:p>
          <a:p>
            <a:r>
              <a:rPr lang="en-US" dirty="0" smtClean="0"/>
              <a:t>Les variables </a:t>
            </a:r>
            <a:r>
              <a:rPr lang="en-US" dirty="0" err="1" smtClean="0"/>
              <a:t>css</a:t>
            </a:r>
            <a:r>
              <a:rPr lang="en-US" dirty="0" smtClean="0"/>
              <a:t> pour la </a:t>
            </a:r>
            <a:r>
              <a:rPr lang="en-US" dirty="0" err="1" smtClean="0"/>
              <a:t>gestion</a:t>
            </a:r>
            <a:r>
              <a:rPr lang="en-US" dirty="0" smtClean="0"/>
              <a:t> des themes</a:t>
            </a:r>
          </a:p>
          <a:p>
            <a:r>
              <a:rPr lang="en-US" dirty="0" smtClean="0"/>
              <a:t>Micro-interactions (les transitions </a:t>
            </a:r>
            <a:r>
              <a:rPr lang="en-US" dirty="0" err="1" smtClean="0"/>
              <a:t>fluides</a:t>
            </a:r>
            <a:r>
              <a:rPr lang="en-US" dirty="0" smtClean="0"/>
              <a:t>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14768114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6000" b="1" i="1" dirty="0">
                <a:latin typeface="Algerian" panose="04020705040A02060702" pitchFamily="82" charset="0"/>
              </a:rPr>
              <a:t>GitHub</a:t>
            </a:r>
            <a:r>
              <a:rPr lang="fr-FR" dirty="0"/>
              <a:t> : historique des </a:t>
            </a:r>
            <a:r>
              <a:rPr lang="fr-FR" dirty="0" err="1"/>
              <a:t>commits</a:t>
            </a:r>
            <a:r>
              <a:rPr lang="fr-FR" dirty="0"/>
              <a:t>, workflow Git, lien GitHub Pages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95401" y="2434590"/>
            <a:ext cx="9601196" cy="3441278"/>
          </a:xfrm>
        </p:spPr>
        <p:txBody>
          <a:bodyPr>
            <a:normAutofit fontScale="92500"/>
          </a:bodyPr>
          <a:lstStyle/>
          <a:p>
            <a:r>
              <a:rPr lang="fr-FR" dirty="0"/>
              <a:t>historique des </a:t>
            </a:r>
            <a:r>
              <a:rPr lang="fr-FR" dirty="0" err="1"/>
              <a:t>commits</a:t>
            </a:r>
            <a:r>
              <a:rPr lang="fr-FR" dirty="0"/>
              <a:t> Utilisation </a:t>
            </a:r>
            <a:r>
              <a:rPr lang="fr-FR" dirty="0" smtClean="0"/>
              <a:t>du git  </a:t>
            </a:r>
          </a:p>
          <a:p>
            <a:endParaRPr lang="fr-FR" dirty="0"/>
          </a:p>
          <a:p>
            <a:pPr marL="0" indent="0">
              <a:buNone/>
            </a:pPr>
            <a:endParaRPr lang="fr-FR" dirty="0" smtClean="0"/>
          </a:p>
          <a:p>
            <a:r>
              <a:rPr lang="en-US" dirty="0" err="1" smtClean="0"/>
              <a:t>Commande</a:t>
            </a:r>
            <a:r>
              <a:rPr lang="en-US" dirty="0" smtClean="0"/>
              <a:t> </a:t>
            </a:r>
            <a:r>
              <a:rPr lang="en-US" dirty="0" err="1" smtClean="0"/>
              <a:t>principale</a:t>
            </a:r>
            <a:r>
              <a:rPr lang="en-US" dirty="0" smtClean="0"/>
              <a:t>: (</a:t>
            </a:r>
            <a:r>
              <a:rPr lang="en-US" dirty="0" err="1" smtClean="0"/>
              <a:t>git</a:t>
            </a:r>
            <a:r>
              <a:rPr lang="en-US" dirty="0" smtClean="0"/>
              <a:t> add .),(</a:t>
            </a:r>
            <a:r>
              <a:rPr lang="en-US" dirty="0" err="1" smtClean="0"/>
              <a:t>git</a:t>
            </a:r>
            <a:r>
              <a:rPr lang="en-US" dirty="0" smtClean="0"/>
              <a:t> commit –m” message”),(</a:t>
            </a:r>
            <a:r>
              <a:rPr lang="en-US" dirty="0" err="1" smtClean="0"/>
              <a:t>git</a:t>
            </a:r>
            <a:r>
              <a:rPr lang="en-US" dirty="0" smtClean="0"/>
              <a:t> push origin main)</a:t>
            </a:r>
          </a:p>
          <a:p>
            <a:r>
              <a:rPr lang="en-US" dirty="0" err="1" smtClean="0"/>
              <a:t>Deploiement</a:t>
            </a:r>
            <a:r>
              <a:rPr lang="en-US" dirty="0" smtClean="0"/>
              <a:t> [ GitHub pages actives ]</a:t>
            </a:r>
          </a:p>
          <a:p>
            <a:r>
              <a:rPr lang="en-US" dirty="0" smtClean="0"/>
              <a:t>Depot GITHUB</a:t>
            </a:r>
          </a:p>
          <a:p>
            <a:r>
              <a:rPr lang="en-US" dirty="0" smtClean="0"/>
              <a:t>Site </a:t>
            </a:r>
            <a:r>
              <a:rPr lang="en-US" dirty="0" err="1" smtClean="0"/>
              <a:t>en</a:t>
            </a:r>
            <a:r>
              <a:rPr lang="en-US" dirty="0" smtClean="0"/>
              <a:t> </a:t>
            </a:r>
            <a:r>
              <a:rPr lang="en-US" dirty="0" err="1" smtClean="0"/>
              <a:t>ligne</a:t>
            </a:r>
            <a:r>
              <a:rPr lang="en-US" dirty="0"/>
              <a:t> :https://mouhamed5375.github.io/FALL-MOUHAMED-</a:t>
            </a:r>
            <a:r>
              <a:rPr lang="en-US" dirty="0" err="1"/>
              <a:t>AfriTalent</a:t>
            </a:r>
            <a:r>
              <a:rPr lang="en-US" dirty="0"/>
              <a:t>/</a:t>
            </a:r>
            <a:endParaRPr lang="fr-FR" dirty="0"/>
          </a:p>
        </p:txBody>
      </p:sp>
      <p:pic>
        <p:nvPicPr>
          <p:cNvPr id="4" name="Image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9540" y="2434590"/>
            <a:ext cx="2119802" cy="1512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2737473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sz="6000" b="1" i="1" dirty="0">
                <a:latin typeface="Algerian" panose="04020705040A02060702" pitchFamily="82" charset="0"/>
              </a:rPr>
              <a:t>Difficultés rencontrées et solutions </a:t>
            </a:r>
            <a:r>
              <a:rPr lang="fr-FR" dirty="0"/>
              <a:t>(minimum 2)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169671" y="2648372"/>
            <a:ext cx="9601196" cy="3318936"/>
          </a:xfrm>
        </p:spPr>
        <p:txBody>
          <a:bodyPr/>
          <a:lstStyle/>
          <a:p>
            <a:r>
              <a:rPr lang="fr-FR" dirty="0" smtClean="0"/>
              <a:t>J’ai</a:t>
            </a:r>
            <a:r>
              <a:rPr lang="en-US" dirty="0" smtClean="0"/>
              <a:t> rencontre </a:t>
            </a:r>
            <a:r>
              <a:rPr lang="fr-FR" dirty="0" smtClean="0"/>
              <a:t>d’énorme</a:t>
            </a:r>
            <a:r>
              <a:rPr lang="en-US" dirty="0" smtClean="0"/>
              <a:t> </a:t>
            </a:r>
            <a:r>
              <a:rPr lang="fr-FR" dirty="0" smtClean="0"/>
              <a:t>difficulté</a:t>
            </a:r>
            <a:r>
              <a:rPr lang="en-US" dirty="0" smtClean="0"/>
              <a:t> tout au long </a:t>
            </a:r>
            <a:r>
              <a:rPr lang="en-US" dirty="0" err="1" smtClean="0"/>
              <a:t>parcour</a:t>
            </a:r>
            <a:r>
              <a:rPr lang="en-US" dirty="0" smtClean="0"/>
              <a:t> du </a:t>
            </a:r>
            <a:r>
              <a:rPr lang="fr-FR" dirty="0" smtClean="0"/>
              <a:t>projet</a:t>
            </a:r>
            <a:r>
              <a:rPr lang="en-US" dirty="0" smtClean="0"/>
              <a:t> . </a:t>
            </a:r>
            <a:r>
              <a:rPr lang="en-US" dirty="0" err="1" smtClean="0"/>
              <a:t>Parfois</a:t>
            </a:r>
            <a:r>
              <a:rPr lang="en-US" dirty="0" smtClean="0"/>
              <a:t> meme </a:t>
            </a:r>
            <a:r>
              <a:rPr lang="en-US" dirty="0" err="1" smtClean="0"/>
              <a:t>j’ai</a:t>
            </a:r>
            <a:r>
              <a:rPr lang="en-US" dirty="0" smtClean="0"/>
              <a:t> meme </a:t>
            </a:r>
            <a:r>
              <a:rPr lang="en-US" dirty="0" err="1" smtClean="0"/>
              <a:t>pense</a:t>
            </a:r>
            <a:r>
              <a:rPr lang="en-US" dirty="0" smtClean="0"/>
              <a:t> a abandoner, car </a:t>
            </a:r>
            <a:r>
              <a:rPr lang="en-US" dirty="0" err="1" smtClean="0"/>
              <a:t>ce</a:t>
            </a:r>
            <a:r>
              <a:rPr lang="en-US" dirty="0" smtClean="0"/>
              <a:t> </a:t>
            </a:r>
            <a:r>
              <a:rPr lang="en-US" dirty="0" err="1" smtClean="0"/>
              <a:t>projet</a:t>
            </a:r>
            <a:r>
              <a:rPr lang="en-US" dirty="0" smtClean="0"/>
              <a:t> </a:t>
            </a:r>
            <a:r>
              <a:rPr lang="en-US" dirty="0" err="1" smtClean="0"/>
              <a:t>est</a:t>
            </a:r>
            <a:r>
              <a:rPr lang="en-US" dirty="0" smtClean="0"/>
              <a:t> d’un tout </a:t>
            </a:r>
            <a:r>
              <a:rPr lang="en-US" dirty="0" err="1" smtClean="0"/>
              <a:t>autre</a:t>
            </a:r>
            <a:r>
              <a:rPr lang="en-US" dirty="0" smtClean="0"/>
              <a:t> </a:t>
            </a:r>
            <a:r>
              <a:rPr lang="en-US" dirty="0" err="1" smtClean="0"/>
              <a:t>niveau</a:t>
            </a:r>
            <a:r>
              <a:rPr lang="en-US" dirty="0" smtClean="0"/>
              <a:t> </a:t>
            </a:r>
          </a:p>
          <a:p>
            <a:r>
              <a:rPr lang="en-US" dirty="0" err="1" smtClean="0"/>
              <a:t>Lors</a:t>
            </a:r>
            <a:r>
              <a:rPr lang="en-US" dirty="0" smtClean="0"/>
              <a:t> du commit 2 </a:t>
            </a:r>
            <a:r>
              <a:rPr lang="en-US" dirty="0" err="1" smtClean="0"/>
              <a:t>j’avais</a:t>
            </a:r>
            <a:r>
              <a:rPr lang="en-US" dirty="0" smtClean="0"/>
              <a:t> mal </a:t>
            </a:r>
            <a:r>
              <a:rPr lang="en-US" dirty="0" err="1" smtClean="0"/>
              <a:t>compris</a:t>
            </a:r>
            <a:r>
              <a:rPr lang="en-US" dirty="0" smtClean="0"/>
              <a:t> les </a:t>
            </a:r>
            <a:r>
              <a:rPr lang="en-US" dirty="0" err="1" smtClean="0"/>
              <a:t>consignes</a:t>
            </a:r>
            <a:r>
              <a:rPr lang="en-US" dirty="0" smtClean="0"/>
              <a:t> et </a:t>
            </a:r>
            <a:r>
              <a:rPr lang="en-US" dirty="0" err="1" smtClean="0"/>
              <a:t>j’ai</a:t>
            </a:r>
            <a:r>
              <a:rPr lang="en-US" dirty="0" smtClean="0"/>
              <a:t> </a:t>
            </a:r>
            <a:r>
              <a:rPr lang="en-US" dirty="0" err="1" smtClean="0"/>
              <a:t>consacre</a:t>
            </a:r>
            <a:r>
              <a:rPr lang="en-US" dirty="0" smtClean="0"/>
              <a:t> beaucoup de temps . Avec le </a:t>
            </a:r>
            <a:r>
              <a:rPr lang="en-US" dirty="0" err="1" smtClean="0"/>
              <a:t>javascript</a:t>
            </a:r>
            <a:r>
              <a:rPr lang="en-US" dirty="0" smtClean="0"/>
              <a:t>, </a:t>
            </a:r>
            <a:r>
              <a:rPr lang="en-US" dirty="0" err="1" smtClean="0"/>
              <a:t>j’ai</a:t>
            </a:r>
            <a:r>
              <a:rPr lang="en-US" dirty="0" smtClean="0"/>
              <a:t> </a:t>
            </a:r>
            <a:r>
              <a:rPr lang="en-US" dirty="0" err="1" smtClean="0"/>
              <a:t>reellement</a:t>
            </a:r>
            <a:r>
              <a:rPr lang="en-US" dirty="0" smtClean="0"/>
              <a:t> </a:t>
            </a:r>
            <a:r>
              <a:rPr lang="en-US" dirty="0" err="1" smtClean="0"/>
              <a:t>compris</a:t>
            </a:r>
            <a:r>
              <a:rPr lang="en-US" dirty="0" smtClean="0"/>
              <a:t> le </a:t>
            </a:r>
            <a:r>
              <a:rPr lang="en-US" dirty="0" err="1" smtClean="0"/>
              <a:t>sens</a:t>
            </a:r>
            <a:r>
              <a:rPr lang="en-US" dirty="0" smtClean="0"/>
              <a:t> du mots “bugs”</a:t>
            </a:r>
          </a:p>
          <a:p>
            <a:r>
              <a:rPr lang="en-US" dirty="0" err="1" smtClean="0"/>
              <a:t>J’ai</a:t>
            </a:r>
            <a:r>
              <a:rPr lang="en-US" dirty="0" smtClean="0"/>
              <a:t> </a:t>
            </a:r>
            <a:r>
              <a:rPr lang="en-US" dirty="0" err="1" smtClean="0"/>
              <a:t>enormement</a:t>
            </a:r>
            <a:r>
              <a:rPr lang="en-US" dirty="0" smtClean="0"/>
              <a:t> </a:t>
            </a:r>
            <a:r>
              <a:rPr lang="en-US" dirty="0" err="1" smtClean="0"/>
              <a:t>galere</a:t>
            </a:r>
            <a:r>
              <a:rPr lang="en-US" dirty="0" smtClean="0"/>
              <a:t> sur </a:t>
            </a:r>
            <a:r>
              <a:rPr lang="en-US" dirty="0" err="1" smtClean="0"/>
              <a:t>plusieur</a:t>
            </a:r>
            <a:r>
              <a:rPr lang="en-US" dirty="0" smtClean="0"/>
              <a:t> </a:t>
            </a:r>
            <a:r>
              <a:rPr lang="en-US" dirty="0" err="1" smtClean="0"/>
              <a:t>problemes</a:t>
            </a:r>
            <a:r>
              <a:rPr lang="en-US" dirty="0" smtClean="0"/>
              <a:t> techniques. Et pour </a:t>
            </a:r>
            <a:r>
              <a:rPr lang="en-US" dirty="0" err="1" smtClean="0"/>
              <a:t>finr</a:t>
            </a:r>
            <a:r>
              <a:rPr lang="en-US" dirty="0" smtClean="0"/>
              <a:t> le </a:t>
            </a:r>
            <a:r>
              <a:rPr lang="en-US" dirty="0" err="1" smtClean="0"/>
              <a:t>deployement</a:t>
            </a:r>
            <a:r>
              <a:rPr lang="en-US" dirty="0" smtClean="0"/>
              <a:t> du site. A </a:t>
            </a:r>
            <a:r>
              <a:rPr lang="en-US" dirty="0" err="1" smtClean="0"/>
              <a:t>chaque</a:t>
            </a:r>
            <a:r>
              <a:rPr lang="en-US" dirty="0" smtClean="0"/>
              <a:t> </a:t>
            </a:r>
            <a:r>
              <a:rPr lang="en-US" dirty="0" err="1" smtClean="0"/>
              <a:t>fois</a:t>
            </a:r>
            <a:r>
              <a:rPr lang="en-US" dirty="0" smtClean="0"/>
              <a:t> que je </a:t>
            </a:r>
            <a:r>
              <a:rPr lang="en-US" dirty="0" err="1" smtClean="0"/>
              <a:t>deploie</a:t>
            </a:r>
            <a:r>
              <a:rPr lang="en-US" dirty="0" smtClean="0"/>
              <a:t> le site </a:t>
            </a:r>
            <a:r>
              <a:rPr lang="en-US" dirty="0" err="1" smtClean="0"/>
              <a:t>pluisieur</a:t>
            </a:r>
            <a:r>
              <a:rPr lang="en-US" dirty="0" smtClean="0"/>
              <a:t> </a:t>
            </a:r>
            <a:r>
              <a:rPr lang="en-US" dirty="0" err="1" smtClean="0"/>
              <a:t>fonctionnalite</a:t>
            </a:r>
            <a:r>
              <a:rPr lang="en-US" dirty="0" smtClean="0"/>
              <a:t> </a:t>
            </a:r>
            <a:r>
              <a:rPr lang="en-US" dirty="0" err="1" smtClean="0"/>
              <a:t>cessent</a:t>
            </a:r>
            <a:r>
              <a:rPr lang="en-US" dirty="0" smtClean="0"/>
              <a:t> de </a:t>
            </a:r>
            <a:r>
              <a:rPr lang="en-US" dirty="0" err="1" smtClean="0"/>
              <a:t>fonctionner</a:t>
            </a:r>
            <a:r>
              <a:rPr lang="en-US" dirty="0" smtClean="0"/>
              <a:t> </a:t>
            </a:r>
            <a:r>
              <a:rPr lang="en-US" dirty="0" err="1" smtClean="0"/>
              <a:t>alors</a:t>
            </a:r>
            <a:r>
              <a:rPr lang="en-US" dirty="0" smtClean="0"/>
              <a:t> </a:t>
            </a:r>
            <a:r>
              <a:rPr lang="en-US" dirty="0" err="1" smtClean="0"/>
              <a:t>qu’elles</a:t>
            </a:r>
            <a:r>
              <a:rPr lang="en-US" dirty="0" smtClean="0"/>
              <a:t> </a:t>
            </a:r>
            <a:r>
              <a:rPr lang="en-US" dirty="0" err="1" smtClean="0"/>
              <a:t>marchent</a:t>
            </a:r>
            <a:r>
              <a:rPr lang="en-US" dirty="0" smtClean="0"/>
              <a:t> </a:t>
            </a:r>
            <a:r>
              <a:rPr lang="en-US" dirty="0" err="1" smtClean="0"/>
              <a:t>parfaitement</a:t>
            </a:r>
            <a:r>
              <a:rPr lang="en-US" dirty="0" smtClean="0"/>
              <a:t> </a:t>
            </a:r>
            <a:r>
              <a:rPr lang="en-US" dirty="0" err="1" smtClean="0"/>
              <a:t>en</a:t>
            </a:r>
            <a:r>
              <a:rPr lang="en-US" dirty="0" smtClean="0"/>
              <a:t> local 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062678741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fr-FR" b="1" i="1" dirty="0">
                <a:latin typeface="Algerian" panose="04020705040A02060702" pitchFamily="82" charset="0"/>
              </a:rPr>
              <a:t>Ressources et documentation utilisées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DOCUMENTATION (MDN </a:t>
            </a:r>
            <a:r>
              <a:rPr lang="en-US" dirty="0"/>
              <a:t>Web Docs, Bootstrap 5 Docs , Font Awesome, W3Schools)</a:t>
            </a:r>
            <a:endParaRPr lang="en-US" dirty="0" smtClean="0"/>
          </a:p>
          <a:p>
            <a:r>
              <a:rPr lang="en-US" dirty="0" smtClean="0"/>
              <a:t>OUTILS( v</a:t>
            </a:r>
            <a:r>
              <a:rPr lang="fr-FR" dirty="0" err="1"/>
              <a:t>Bootstrap</a:t>
            </a:r>
            <a:r>
              <a:rPr lang="fr-FR" dirty="0"/>
              <a:t> 5, JavaScript </a:t>
            </a:r>
            <a:r>
              <a:rPr lang="fr-FR" dirty="0" err="1" smtClean="0"/>
              <a:t>Vanilla</a:t>
            </a:r>
            <a:r>
              <a:rPr lang="fr-FR" dirty="0" smtClean="0"/>
              <a:t> </a:t>
            </a:r>
            <a:r>
              <a:rPr lang="fr-FR" dirty="0"/>
              <a:t>JS, </a:t>
            </a:r>
            <a:r>
              <a:rPr lang="fr-FR" dirty="0" err="1" smtClean="0"/>
              <a:t>GitHub,VScode</a:t>
            </a:r>
            <a:r>
              <a:rPr lang="en-US" dirty="0" smtClean="0"/>
              <a:t>)</a:t>
            </a: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0046842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b="1" i="1" dirty="0">
                <a:latin typeface="Algerian" panose="04020705040A02060702" pitchFamily="82" charset="0"/>
              </a:rPr>
              <a:t>Démonstration live du site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1295400" y="2556932"/>
            <a:ext cx="9803129" cy="3455248"/>
          </a:xfrm>
        </p:spPr>
        <p:txBody>
          <a:bodyPr>
            <a:normAutofit fontScale="92500"/>
          </a:bodyPr>
          <a:lstStyle/>
          <a:p>
            <a:r>
              <a:rPr lang="en-US" b="1" dirty="0" err="1" smtClean="0"/>
              <a:t>Fonctionnalites</a:t>
            </a:r>
            <a:r>
              <a:rPr lang="en-US" b="1" dirty="0" smtClean="0"/>
              <a:t> a presenter</a:t>
            </a:r>
          </a:p>
          <a:p>
            <a:r>
              <a:rPr lang="fr-FR" b="1" dirty="0"/>
              <a:t>La </a:t>
            </a:r>
            <a:r>
              <a:rPr lang="fr-FR" b="1" dirty="0" err="1" smtClean="0"/>
              <a:t>Homepage</a:t>
            </a:r>
            <a:r>
              <a:rPr lang="fr-FR" dirty="0" smtClean="0"/>
              <a:t>(Présentez </a:t>
            </a:r>
            <a:r>
              <a:rPr lang="fr-FR" dirty="0"/>
              <a:t>l'identité visuelle moderne (thème sombre technique, logo centré sur le monde de la </a:t>
            </a:r>
            <a:r>
              <a:rPr lang="fr-FR" dirty="0" err="1"/>
              <a:t>tech</a:t>
            </a:r>
            <a:r>
              <a:rPr lang="fr-FR" dirty="0"/>
              <a:t>) Montrez la fluidité de la navigation grâce à la </a:t>
            </a:r>
            <a:r>
              <a:rPr lang="fr-FR" b="1" dirty="0" err="1"/>
              <a:t>navbar</a:t>
            </a:r>
            <a:r>
              <a:rPr lang="fr-FR" b="1" dirty="0"/>
              <a:t> dynamique</a:t>
            </a:r>
            <a:r>
              <a:rPr lang="fr-FR" dirty="0"/>
              <a:t> qui réagit instantanément au scroll</a:t>
            </a:r>
            <a:r>
              <a:rPr lang="fr-FR" dirty="0" smtClean="0"/>
              <a:t>.</a:t>
            </a:r>
          </a:p>
          <a:p>
            <a:r>
              <a:rPr lang="fr-FR" b="1" dirty="0"/>
              <a:t>L'Expérience Utilisateur </a:t>
            </a:r>
            <a:r>
              <a:rPr lang="fr-FR" dirty="0"/>
              <a:t>(Le Mode Sombre</a:t>
            </a:r>
            <a:r>
              <a:rPr lang="fr-FR" dirty="0" smtClean="0"/>
              <a:t>)(L'Expérience </a:t>
            </a:r>
            <a:r>
              <a:rPr lang="fr-FR" dirty="0"/>
              <a:t>Utilisateur (Le Mode Sombre) Expliquez brièvement que ce choix est persistant (grâce au </a:t>
            </a:r>
            <a:r>
              <a:rPr lang="fr-FR" i="1" dirty="0" err="1"/>
              <a:t>LocalStorage</a:t>
            </a:r>
            <a:r>
              <a:rPr lang="fr-FR" dirty="0"/>
              <a:t>), offrant un confort visuel optimal à l'utilisateur lors de ses prochaines visites</a:t>
            </a:r>
            <a:r>
              <a:rPr lang="fr-FR" dirty="0" smtClean="0"/>
              <a:t>.</a:t>
            </a:r>
          </a:p>
          <a:p>
            <a:r>
              <a:rPr lang="fr-FR" b="1" dirty="0"/>
              <a:t>L'Exploration</a:t>
            </a:r>
            <a:r>
              <a:rPr lang="fr-FR" dirty="0"/>
              <a:t> (Le Catalogue &amp; Structure Bento</a:t>
            </a:r>
            <a:r>
              <a:rPr lang="fr-FR" dirty="0" smtClean="0"/>
              <a:t>)</a:t>
            </a:r>
            <a:endParaRPr lang="en-US" dirty="0" smtClean="0"/>
          </a:p>
          <a:p>
            <a:pPr marL="0" indent="0">
              <a:buNone/>
            </a:pPr>
            <a:endParaRPr lang="en-US" dirty="0" smtClean="0"/>
          </a:p>
        </p:txBody>
      </p:sp>
      <p:sp>
        <p:nvSpPr>
          <p:cNvPr id="4" name="Rectangle 1"/>
          <p:cNvSpPr>
            <a:spLocks noChangeArrowheads="1"/>
          </p:cNvSpPr>
          <p:nvPr/>
        </p:nvSpPr>
        <p:spPr bwMode="auto">
          <a:xfrm>
            <a:off x="-1" y="-300307"/>
            <a:ext cx="12448423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Mettez en valeur la mise en page asymétrique en </a:t>
            </a:r>
            <a:r>
              <a:rPr kumimoji="0" lang="fr-FR" altLang="fr-FR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Bento Grid</a:t>
            </a:r>
            <a:r>
              <a:rPr kumimoji="0" lang="fr-FR" altLang="fr-F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Montrez comment les cartes interactives s'animent au survol (</a:t>
            </a:r>
            <a:r>
              <a:rPr kumimoji="0" lang="fr-FR" altLang="fr-FR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hover</a:t>
            </a: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) pour capturer l'attention. </a:t>
            </a:r>
            <a:endParaRPr kumimoji="0" lang="fr-FR" alt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0" y="0"/>
            <a:ext cx="12192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fr-FR" altLang="fr-F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Mettez en valeur la mise en page asymétrique en </a:t>
            </a:r>
            <a:r>
              <a:rPr kumimoji="0" lang="fr-FR" altLang="fr-FR" sz="1800" b="1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Bento Grid</a:t>
            </a:r>
            <a:r>
              <a:rPr kumimoji="0" lang="fr-FR" altLang="fr-FR" sz="18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Montrez comment les cartes interactives s'animent au survol (</a:t>
            </a:r>
            <a:r>
              <a:rPr kumimoji="0" lang="fr-FR" altLang="fr-FR" sz="10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hover</a:t>
            </a:r>
            <a:r>
              <a:rPr kumimoji="0" lang="fr-FR" altLang="fr-FR" sz="900" b="0" i="0" u="none" strike="noStrike" cap="none" normalizeH="0" baseline="0" smtClean="0">
                <a:ln>
                  <a:noFill/>
                </a:ln>
                <a:solidFill>
                  <a:schemeClr val="tx1"/>
                </a:solidFill>
                <a:effectLst/>
              </a:rPr>
              <a:t>) pour capturer l'attention. </a:t>
            </a:r>
            <a:endParaRPr kumimoji="0" lang="fr-FR" altLang="fr-FR" sz="18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9269265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fr-FR" b="1" dirty="0">
                <a:latin typeface="Algerian" panose="04020705040A02060702" pitchFamily="82" charset="0"/>
              </a:rPr>
              <a:t>Conclusion et perspectives d'amélioration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dirty="0"/>
              <a:t>La Conclusion (Le Bilan du Projet</a:t>
            </a:r>
            <a:r>
              <a:rPr lang="fr-FR" dirty="0" smtClean="0"/>
              <a:t>)</a:t>
            </a:r>
          </a:p>
          <a:p>
            <a:r>
              <a:rPr lang="fr-FR" dirty="0"/>
              <a:t>Les Perspectives d'Amélioration (La Vision d'Avenir</a:t>
            </a:r>
            <a:r>
              <a:rPr lang="fr-FR" dirty="0" smtClean="0"/>
              <a:t>)</a:t>
            </a:r>
          </a:p>
          <a:p>
            <a:r>
              <a:rPr lang="fr-FR" dirty="0"/>
              <a:t>Nouvelles Fonctionnalités (Back-End &amp; Expérience Utilisateur)</a:t>
            </a:r>
          </a:p>
        </p:txBody>
      </p:sp>
    </p:spTree>
    <p:extLst>
      <p:ext uri="{BB962C8B-B14F-4D97-AF65-F5344CB8AC3E}">
        <p14:creationId xmlns:p14="http://schemas.microsoft.com/office/powerpoint/2010/main" val="3871590386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sz="8000" b="1" dirty="0" smtClean="0">
                <a:latin typeface="Algerian" panose="04020705040A02060702" pitchFamily="82" charset="0"/>
              </a:rPr>
              <a:t>MERCI !</a:t>
            </a:r>
            <a:endParaRPr lang="fr-FR" sz="8000" b="1" dirty="0">
              <a:latin typeface="Algerian" panose="04020705040A02060702" pitchFamily="82" charset="0"/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800" b="1" i="1" dirty="0">
                <a:latin typeface="Algerian" panose="04020705040A02060702" pitchFamily="82" charset="0"/>
                <a:cs typeface="Calibri Light" panose="020F0302020204030204" pitchFamily="34" charset="0"/>
              </a:rPr>
              <a:t>Plus grand </a:t>
            </a:r>
            <a:r>
              <a:rPr lang="en-US" sz="2800" b="1" i="1" dirty="0" err="1">
                <a:latin typeface="Algerian" panose="04020705040A02060702" pitchFamily="82" charset="0"/>
                <a:cs typeface="Calibri Light" panose="020F0302020204030204" pitchFamily="34" charset="0"/>
              </a:rPr>
              <a:t>est</a:t>
            </a:r>
            <a:r>
              <a:rPr lang="en-US" sz="2800" b="1" i="1" dirty="0">
                <a:latin typeface="Algerian" panose="04020705040A02060702" pitchFamily="82" charset="0"/>
                <a:cs typeface="Calibri Light" panose="020F0302020204030204" pitchFamily="34" charset="0"/>
              </a:rPr>
              <a:t> ton combat , plus sera ta </a:t>
            </a:r>
            <a:r>
              <a:rPr lang="en-US" sz="2800" b="1" i="1" dirty="0" err="1">
                <a:latin typeface="Algerian" panose="04020705040A02060702" pitchFamily="82" charset="0"/>
                <a:cs typeface="Calibri Light" panose="020F0302020204030204" pitchFamily="34" charset="0"/>
              </a:rPr>
              <a:t>victoire</a:t>
            </a:r>
            <a:endParaRPr lang="fr-FR" sz="2800" b="1" i="1" dirty="0">
              <a:latin typeface="Algerian" panose="04020705040A02060702" pitchFamily="82" charset="0"/>
              <a:cs typeface="Calibri Light" panose="020F0302020204030204" pitchFamily="34" charset="0"/>
            </a:endParaRPr>
          </a:p>
          <a:p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960305013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med" p14:dur="700">
        <p15:prstTrans prst="origami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que">
  <a:themeElements>
    <a:clrScheme name="Organique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que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qu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4275</TotalTime>
  <Words>868</Words>
  <Application>Microsoft Office PowerPoint</Application>
  <PresentationFormat>Grand écran</PresentationFormat>
  <Paragraphs>79</Paragraphs>
  <Slides>15</Slides>
  <Notes>0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15</vt:i4>
      </vt:variant>
    </vt:vector>
  </HeadingPairs>
  <TitlesOfParts>
    <vt:vector size="21" baseType="lpstr">
      <vt:lpstr>Algerian</vt:lpstr>
      <vt:lpstr>Arial</vt:lpstr>
      <vt:lpstr>Arial Unicode MS</vt:lpstr>
      <vt:lpstr>Calibri Light</vt:lpstr>
      <vt:lpstr>Garamond</vt:lpstr>
      <vt:lpstr>Organique</vt:lpstr>
      <vt:lpstr>Projet afriTalent</vt:lpstr>
      <vt:lpstr>Sommaire</vt:lpstr>
      <vt:lpstr>Présentation du projet, </vt:lpstr>
      <vt:lpstr>Choix de design : polices (justification), inspirations</vt:lpstr>
      <vt:lpstr>Présentation PowerPoint</vt:lpstr>
      <vt:lpstr>Architecture :</vt:lpstr>
      <vt:lpstr>Présentation PowerPoint</vt:lpstr>
      <vt:lpstr>Points techniques</vt:lpstr>
      <vt:lpstr>Css: avancee</vt:lpstr>
      <vt:lpstr>GitHub : historique des commits, workflow Git, lien GitHub Pages</vt:lpstr>
      <vt:lpstr>Difficultés rencontrées et solutions (minimum 2)</vt:lpstr>
      <vt:lpstr>Ressources et documentation utilisées</vt:lpstr>
      <vt:lpstr>Démonstration live du site</vt:lpstr>
      <vt:lpstr>Conclusion et perspectives d'amélioration</vt:lpstr>
      <vt:lpstr>MERCI 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PROJET AFRITALENT</dc:title>
  <dc:creator>Big</dc:creator>
  <cp:lastModifiedBy>Big</cp:lastModifiedBy>
  <cp:revision>51</cp:revision>
  <dcterms:created xsi:type="dcterms:W3CDTF">2026-06-16T00:26:30Z</dcterms:created>
  <dcterms:modified xsi:type="dcterms:W3CDTF">2026-06-26T10:49:18Z</dcterms:modified>
</cp:coreProperties>
</file>